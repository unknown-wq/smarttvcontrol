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день, уважаемые коллеги, добрый день руководство нашего Вышневолоцкого муниципального округа и представители Управления образования, гости нашей августовской конференции! Тема моего выступления посвящена тому, как интеграция конкурсного движения, научных исследований и передовых цифровых технологий способна стать мощным фундаментом для модернизации образовательного пространства школы, развития междисциплинарных связей и непрерывного роста как учеников, так и самого педагога-наставника. Думаю, что данная тема достаточно актуальна в настоящее время, так как современное биологическое образование требует перехода от пассивного усвоения теоретических знаний к активной практической исследовательской деятельности и освоению высоких технологий. Поэтому в условиях развития инновационных технологий в школе, ключевой задачей педагога становится создание образовательной среды, связывающей проектные инициативы учеников с реальной наукой.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Проектная часть экосистемы конкурса «Большая Перемена» включает 14 уникальных «Вызовов». Наша школа активно включена в это движение с самого первого сезона - с марта 2020 года. За это время ключевыми и самыми результативными для нас стали три вызова: «Сохраняй природу!», «Твори!» и «Открывай новое!». Именно на стыке экологии, творчества и передовых научных открытий строится проектная логика наших тандемов ученик + наставник в командных треках. Важнейшей частью конкурса является выход ребят на уникальные встречи, где спикерами являются первые лица государства, космонавты, олимпийские чемпионы, деятели искусства и представители крупнейших госкорпораций, таких как Росатом, Роскосмос и Сбер. Это позволяет школьникам эффективно осваивать ключевые технологии 4К: креативность, коммуникабельность, критическое мышление и кооперация.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слайда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Конкурсное движение в «Большой Перемене «на базе нашей школы, послужило для меня и моих наставляемых эффективным проектным лифтом, и на этом слайде можно проследить победную хронологию учеников школы. Наш первый победитель и миллионер - Ванесса Жилкина, одержавшая победу в 2020 году. Затем Александр Гриченко удерживал планку первенства два года подряд - в 2021 и 2022 годах. Но абсолютно феноменальный результат продемонстрировала Алёна Жукова! Она является дважды призером конкурса в 2023 и 2025 годах, а в 2024 году завоевала статус Лауреата 1 степени и стала Абсолютным победителем «Большой Перемены»! Каждый из этих успехов - не просто дипломы. Это реальные кейсы, которые профессионально развивали меня как наставника, формировали у детей базовые hard и soft skills (жесткие и гибкие навыки).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Многократные победы наших ребят во Всероссийском конкурсе «Большая Перемена» вдохновили не только победителей, призеров и меня, как их наставника- они заставили и других учеников школы поверить в то, что невозможное возможно. Эти успехи подарили нам уверенность в своих силах- появилось желание участвовать в других значимых конкурсах на всероссийском и федеральном уровне.
Осенью 2022 года наша школа договаривается о партнерстве ФГАОУ ВО «Новосибирский национальный исследовательский государственный университет» и мы с ребятами вступаем в исследовательскую программу Института химической биологии и фундаментальной медицины  г. Новосибирск ( ИХБФМ СО РАН) «Всероссийский атлас почвенных микроорганизмов, как основа для поиска новых противомикробных продуцентов и ферментов с уникальными свойствами
Получив от партнеров передовую технологическую базу (уникальные исследовательские наборы, цифровые инструменты и платформы, образовательные ресурсы школа переводит исследовательскую работу учащихся в плоскость доказательной науки. За годы совместной работы с новосибирскими учеными в проекте с 2022 года по 2024 год более 30 учеников нашей школы стали научными волонтерами, гражданскими учеными и соавторами Всероссийского атласа почвенных микроорганизмов.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слайда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слайда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вами - ключевые участники наших исследовательских, технологических и эколого-просветительских проектов. Алёна Жукова -абсолютный победитель, лауреат I степени и двукратный призер Всероссийского конкурса «Большая Перемена», победитель регионального трека Всероссийского конкурса «Большие Вызовы» (направление «Агропромышленные и биотехнологии», 2022–2023 гг., тема: «Скрининг азотфиксирующих бактерий на способность к стимулированию роста растений»). Её работа внесла вклад в поиск эффективных микробиологических удобрений для сельского хозяйства. Также Алёна-финалист конкурса «Экопоколение», амбассадор юннатского движения Тверской области и неоднократный победитель Всероссийской метапредметной научно-практической конференции в пгт Базарный Карабулак Саратовской области. В ходе проектов она вела культивирование азотфиксирующих бактерий рода Azotobacter. Ульяна Коляскина -призер Всероссийской метапредметной научно-практической конференции в пгт Базарный Карабулак Саратовской области и призер регионального трека Всероссийского конкурса «Большие Вызовы» (направление «Агропромышленные и биотехнологии», 2023-2024 гг., тема: «Поиск продуцентов природных антибиотиков в разных типах экосистем»). Исследование посвящено одной из самых актуальных проблем современной науки - поиску новых штаммов для борьбы с устойчивыми патогенами. Ульяна занималась поиском природных антибиотиков и культивированием штаммов Streptomyces.
Ярким примером технологического лидерства стала Софья Петрова - финалист Всероссийского конкурса «Большая Перемена» (2022 г.), а также победитель регионального трека Всероссийского конкурса «АгроНТИ-2022» в сложнейшем направлении «АгроРоботы». Уникальность этого кейса в том, что Софья до конкурса вообще не держала джойстик в руках! Мы учились управлению роботами с нуля по видеоурокам, используя конструктор LEGO.
Вероника Елизарова — абсолютный победитель регионального этапа Всероссийского конкурса презентаций «Многоликая Россия» (2026 г.) в номинации «Дальневосточный федеральный округ» с конкурсной презентацией «Тункинский национальный парк».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слайда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слайда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слайда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«Уважаемые коллеги, масштабные вызовы, которые принимали мои ученики, требовали соответствующего уровня и от меня как от наставника. Невозможно вести детей в плоскость доказательной науки и приводить их к федеральным победам, оставаясь в рамках стандартного школьного учебника. Каждый проект - от микробиологических исследований в "Атласе почвенных микроорганизмов" РАН до управления агророботами в "АгроНТИ"- становился точкой моего собственного профессионального роста и глубокого самообразования. Моя личная траектория наставничества нашла признание на всех уровнях профессионального сообщества, в том числе на самом высоком государственном уровне. Четырежды - в 2020, 2021, 2022 и 2024 годах - мой труд, профессионализм и мастерство в подготовке финалистов и победителей Всероссийского конкурса "Большая Перемена" были отмечены официальными благодарностями Первого заместителя Руководителя Администрации Президента Российской Федерации Сергея Владиленовича Кириенко.  Чтобы координировать сложнейшие исследования девочек по скринингу почв и поиску природных антибиотиков, я совместно с учеными Новосибирского государственного университета и институтов РАН осваивала передовые академические методики, выходя далеко за рамки классической школьной биологии. Мой профессиональный путь подкреплялся регулярным обучением на ведущих федеральных образовательных программах, включая прохождение специализированных программ повышения квалификации в качестве педагога-наставника победителей "Большой Перемены" на базе Международного детского центра "Артек", где собираются лучшие педагогические кадры страны. Развивая таланты, я развиваюсь сама, подтверждая главный принцип современной педагогики: учитель лишь до тех пор учитель, пока он сам учится».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слайда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 создания научной лаборатории в кабинете в кабинете биологии для формирования экологически ответственного поведения и развития научной деятельности среди школьников возникала неоднократно, когда ученики выполняли научно-исследовательские проекты. Ребята участвовали в различных экологических конкурсах для получения гранта на открытие школьной лаборатории
Катализатор- начало открытия
Гриченко Александр, став победителем всероссийского конкурса «Большая Перемена» получает премию и в 2022 году передает в дар современный, световой микроскоп - это стало отправной точкой на пути к открытию школьной лаборатории.
Предложение проекта и первый этап
29 ноября 2024 года Жукова Алена, Бондаренко София на школьном этапе конкурса «Проект школьных инициатив» предоставили проект «Научная лаборатория БиоЛаб» и по результатам голосования прошли на муниципальный этап конкурса.
Результат и успешная защита
На муниципальном этапе конкурса при поддержке заместителя директора по ВР Папиной А.Н., заместителя директора по ИКТ Кулагина Артура Александровича, Жукова Алена и Ланцев Никита успешно защищают проект и в школе в кабинете биологии появляется экологическое пространство с учебно- исследовательской лабораторией биосигналов и нейротехнологий.
И здесь я хочу сказать слова благодарности: заместителю директора по воспитательной работе Анне Николаевне Папиной и заместителю директора по ИКТ Артуру Александровичу Кулагину. Без их реальной поддержки, без их помощи эта мечта так и осталась бы просто мечтой. Спасибо вам, что помогли детям воплотить её в жизнь!»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слайда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слайда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данном слайде вы видите команду наших исследователей, состоящую из учеников 10 класса и 5 класса. Здесь очень важна преемственность поколений. В нашей лаборатории выстраивается процесс, когда старшие, более опытные ученики постепенно становятся наставниками для младших ребят, передавая им свои знания и навыки проектной работы».
(данная информация не читается, расположена на слайде)
Команда:
Наставник Еременко Анна Михайловна
Исследователи ученики 10 класса: Владимирова Диана, Видонов Артем, Гужов Алексей, Елизарова Вероника, Иванова Диана, Малышева Анастасия, Рощин Алексей, Татушенко Егор, Тропников Иван
Ассистенты проекта ученицы 5 б класса Виноградова Алиса, Радаева София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данном слайде представлены наши первые практические шаги — два эксперимента по кардиографии. В эксперименте „От сердца к цифре“ нашей целью было не просто увидеть пульс, а освоить методику регистрации биосигналов и перевести электрические импульсы кожи в точные цифровые данные. Нам удалось успешно освоить технику первого отведения и настройки фильтрации. Во втором эксперименте мы исследовали адаптацию сердца к нагрузкам. Цифровая лаборатория наглядно визуализировала динамическую адаптацию и восстановительную способность живого организма, подтвердив гипотезу о сокращении кардиоинтервала при активности. Я предлагаю вам посмотреть короткий видеофрагмент, где ребята сами подробно показывают весь ход эксперимента№2 и свои расчеты.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слайда 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наступающем учебном году в нашей школьной лаборатории мы планируем развивать два перспективных научно-исследовательских вектора, которые объединят учеников разных возрастов:
Вектор классической биологии (5–7 классы) Тема: Экспериментальное исследование факторов успешной вегетативной репродукции лимонов сортов „Лунарио“ и „Павловский“ с изучением их морфометрических признаков.
Второй вектор - это Data Science и биомедицина для старшеклассников 9–11 классов. Здесь мы выходим на серьезный академический уровень. Проект направлен на нейросенсорное восприятие биологических данных с интеграцией цифровой лаборатории „Радуга“ и проектов гражданской науки. Главная особенность — применение методов математической статистики, включая t-критерий Стьюдента и U-критерий Манна -Уитни, для доказательного анализа результатов прямо в школьной лаборатории».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слайда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«Уважаемые коллеги, завершая свое выступление, я хочу подвести итог и выделить три главных вывода нашей многолетней системной работы в школе (и вы их видите на слайде):
1. Эффективность проектных лифтов: Успешное участие в конкурсах уровня «Большой перемены» служит мощным стартовым фундаментом для создания инновационной инфраструктуры внутри обычной школы.
2. Использование цифровых лабораторий переводит уроки биологии в плоскость доказательной науки, наглядно визуализируя скрытые физиологические процессы и подтверждая выдвинутые гипотезы точными вычислениями.
3.Метапредметный результат: Работа с нейролабораторией эффективно формирует у школьников устойчивые hard и soft skills, стирая границы между школьным экспериментом и будущей высокотехнологичной профессией.
Победа в конкурсе — это не финал, а стартовая точка к новым возможностям!
Прежде чем сказать вам «Спасибо за внимание!», хочется сказать спасибо администрации школы, коллегам, родителям, ученикам и всем, кто был рядом. Кто вместе с нами радовался нашим достижениям и разделял «горечь поражения». Кто поддерживал, советовал и помогал.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слайда 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a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4" name="Image 1" descr="/tmp/claude-0/-home-user-SmartTVControl/c7267815-9774-5a8b-9a9f-04286a1d8dd3/scratchpad/project/out/prepared/slides1-4/s1_logo_b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4320"/>
            <a:ext cx="1371600" cy="675249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920240" y="256032"/>
            <a:ext cx="4553712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6" name="Text 1"/>
          <p:cNvSpPr/>
          <p:nvPr/>
        </p:nvSpPr>
        <p:spPr>
          <a:xfrm>
            <a:off x="2029968" y="292608"/>
            <a:ext cx="4334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Муниципальное бюджетное общеобразовательное учреждение средняя общеобразовательная школа №12</a:t>
            </a:r>
            <a:endParaRPr lang="en-US" sz="1700" dirty="0"/>
          </a:p>
        </p:txBody>
      </p:sp>
      <p:sp>
        <p:nvSpPr>
          <p:cNvPr id="7" name="Text 2"/>
          <p:cNvSpPr/>
          <p:nvPr/>
        </p:nvSpPr>
        <p:spPr>
          <a:xfrm>
            <a:off x="384048" y="1143000"/>
            <a:ext cx="6089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От „Большой Перемены“</a:t>
            </a:r>
            <a:endParaRPr lang="en-US" sz="3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к нейролаборатории</a:t>
            </a:r>
            <a:endParaRPr lang="en-US" sz="3600" dirty="0"/>
          </a:p>
        </p:txBody>
      </p:sp>
      <p:sp>
        <p:nvSpPr>
          <p:cNvPr id="8" name="Shape 3"/>
          <p:cNvSpPr/>
          <p:nvPr/>
        </p:nvSpPr>
        <p:spPr>
          <a:xfrm>
            <a:off x="384048" y="3017520"/>
            <a:ext cx="6089904" cy="2011680"/>
          </a:xfrm>
          <a:prstGeom prst="roundRect">
            <a:avLst>
              <a:gd name="adj" fmla="val 6364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603504" y="3127248"/>
            <a:ext cx="565099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Эффективные практики в решении метапредметных задач: от теории к практике. Как школьные инициативы трансформируются в высокотехнологичную образовательную среду</a:t>
            </a:r>
            <a:endParaRPr lang="en-US" sz="1900" dirty="0"/>
          </a:p>
        </p:txBody>
      </p:sp>
      <p:sp>
        <p:nvSpPr>
          <p:cNvPr id="10" name="Shape 5"/>
          <p:cNvSpPr/>
          <p:nvPr/>
        </p:nvSpPr>
        <p:spPr>
          <a:xfrm>
            <a:off x="384048" y="5193792"/>
            <a:ext cx="6089904" cy="548640"/>
          </a:xfrm>
          <a:prstGeom prst="roundRect">
            <a:avLst>
              <a:gd name="adj" fmla="val 50000"/>
            </a:avLst>
          </a:prstGeom>
          <a:solidFill>
            <a:srgbClr val="8C1D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75488" y="5193792"/>
            <a:ext cx="5907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«Большая Перемена» — с марта 2020 года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384048" y="5852160"/>
            <a:ext cx="6089904" cy="548640"/>
          </a:xfrm>
          <a:prstGeom prst="roundRect">
            <a:avLst>
              <a:gd name="adj" fmla="val 50000"/>
            </a:avLst>
          </a:prstGeom>
          <a:solidFill>
            <a:srgbClr val="8C1D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75488" y="5852160"/>
            <a:ext cx="5907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«Всероссийский атлас почвенных микроорганизмов»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384048" y="6510528"/>
            <a:ext cx="6089904" cy="548640"/>
          </a:xfrm>
          <a:prstGeom prst="roundRect">
            <a:avLst>
              <a:gd name="adj" fmla="val 50000"/>
            </a:avLst>
          </a:prstGeom>
          <a:solidFill>
            <a:srgbClr val="8C1D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75488" y="6510528"/>
            <a:ext cx="5907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«БиоЛаб» — биосигналы и нейротехнологии</a:t>
            </a:r>
            <a:endParaRPr lang="en-US" sz="1800" dirty="0"/>
          </a:p>
        </p:txBody>
      </p:sp>
      <p:pic>
        <p:nvPicPr>
          <p:cNvPr id="16" name="Image 2" descr="/tmp/claude-0/-home-user-SmartTVControl/c7267815-9774-5a8b-9a9f-04286a1d8dd3/scratchpad/project/out/prepared/v2r/s1_sch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242048"/>
            <a:ext cx="5486400" cy="3036753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84048" y="10424160"/>
            <a:ext cx="608990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493776" y="10424160"/>
            <a:ext cx="5870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Еременко А.М., учитель биологии МБОУ СОШ №12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384048" y="11201400"/>
            <a:ext cx="6089904" cy="530352"/>
          </a:xfrm>
          <a:prstGeom prst="roundRect">
            <a:avLst>
              <a:gd name="adj" fmla="val 50000"/>
            </a:avLst>
          </a:prstGeom>
          <a:solidFill>
            <a:srgbClr val="1B3C8C"/>
          </a:solidFill>
          <a:ln/>
        </p:spPr>
      </p:sp>
      <p:sp>
        <p:nvSpPr>
          <p:cNvPr id="20" name="Text 14"/>
          <p:cNvSpPr/>
          <p:nvPr/>
        </p:nvSpPr>
        <p:spPr>
          <a:xfrm>
            <a:off x="475488" y="11201400"/>
            <a:ext cx="5907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Вышневолоцкий муниципальный округ, 2026 год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a_pl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4048" y="274320"/>
            <a:ext cx="6089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Экосистема конкурса «Большая Перемена»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384048" y="1645920"/>
            <a:ext cx="608990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85216" y="1645920"/>
            <a:ext cx="2011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00" dirty="0">
                <a:solidFill>
                  <a:srgbClr val="8C1D3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14</a:t>
            </a:r>
            <a:endParaRPr lang="en-US" sz="5800" dirty="0"/>
          </a:p>
        </p:txBody>
      </p:sp>
      <p:sp>
        <p:nvSpPr>
          <p:cNvPr id="7" name="Text 3"/>
          <p:cNvSpPr/>
          <p:nvPr/>
        </p:nvSpPr>
        <p:spPr>
          <a:xfrm>
            <a:off x="2688336" y="1645920"/>
            <a:ext cx="35844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уникальных «Вызовов»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84048" y="3776472"/>
            <a:ext cx="608990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85216" y="3776472"/>
            <a:ext cx="2011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00" dirty="0">
                <a:solidFill>
                  <a:srgbClr val="8C1D3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2020</a:t>
            </a:r>
            <a:endParaRPr lang="en-US" sz="5800" dirty="0"/>
          </a:p>
        </p:txBody>
      </p:sp>
      <p:sp>
        <p:nvSpPr>
          <p:cNvPr id="10" name="Text 6"/>
          <p:cNvSpPr/>
          <p:nvPr/>
        </p:nvSpPr>
        <p:spPr>
          <a:xfrm>
            <a:off x="2688336" y="3776472"/>
            <a:ext cx="35844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движении с марта 2020 года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384048" y="5907024"/>
            <a:ext cx="608990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85216" y="5907024"/>
            <a:ext cx="2011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00" dirty="0">
                <a:solidFill>
                  <a:srgbClr val="8C1D3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</a:t>
            </a:r>
            <a:endParaRPr lang="en-US" sz="5800" dirty="0"/>
          </a:p>
        </p:txBody>
      </p:sp>
      <p:sp>
        <p:nvSpPr>
          <p:cNvPr id="13" name="Text 9"/>
          <p:cNvSpPr/>
          <p:nvPr/>
        </p:nvSpPr>
        <p:spPr>
          <a:xfrm>
            <a:off x="2688336" y="5907024"/>
            <a:ext cx="35844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сезон конкурса идёт сейчас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384048" y="8046720"/>
            <a:ext cx="6089904" cy="3291840"/>
          </a:xfrm>
          <a:prstGeom prst="roundRect">
            <a:avLst>
              <a:gd name="adj" fmla="val 3889"/>
            </a:avLst>
          </a:prstGeom>
          <a:solidFill>
            <a:srgbClr val="1B3C8C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12285E">
                <a:alpha val="2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0080" y="8174736"/>
            <a:ext cx="55778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Встречи с первыми лицами государства, космонавтами, олимпийскими чемпионами · Росатом · Роскосмос · Сбер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Технологии 4К: креативность · коммуникабельность · критическое мышление · кооперация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a_pl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" y="1280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B3C8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" y="128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384048" y="603504"/>
            <a:ext cx="6089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Экосистема конкурса «Большая Перемена»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384048" y="2011680"/>
            <a:ext cx="6089904" cy="2743200"/>
          </a:xfrm>
          <a:prstGeom prst="roundRect">
            <a:avLst>
              <a:gd name="adj" fmla="val 4667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21792" y="2231136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621792" y="2231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8C1D3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426464" y="2194560"/>
            <a:ext cx="4809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«Сохраняй природу!»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621792" y="3145536"/>
            <a:ext cx="5614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экология, природоохранные и исследовательские проекты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384048" y="5029200"/>
            <a:ext cx="6089904" cy="2743200"/>
          </a:xfrm>
          <a:prstGeom prst="roundRect">
            <a:avLst>
              <a:gd name="adj" fmla="val 4667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1792" y="5248656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621792" y="52486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8C1D3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426464" y="5212080"/>
            <a:ext cx="4809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«Твори!»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621792" y="6163056"/>
            <a:ext cx="5614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творческие треки, презентации и медиапроекты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384048" y="8046720"/>
            <a:ext cx="6089904" cy="2743200"/>
          </a:xfrm>
          <a:prstGeom prst="roundRect">
            <a:avLst>
              <a:gd name="adj" fmla="val 4667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" y="8266176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621792" y="82661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8C1D3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426464" y="8229600"/>
            <a:ext cx="4809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«Открывай новое!»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621792" y="9180576"/>
            <a:ext cx="5614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наука, технологии и открытия вместе с наставником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a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4048" y="274320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От кейсовых заданий «Большой Перемены» — к нейролаборатории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384048" y="2011680"/>
            <a:ext cx="6089904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6" name="Image 1" descr="/tmp/claude-0/-home-user-SmartTVControl/c7267815-9774-5a8b-9a9f-04286a1d8dd3/scratchpad/project/out/prepared/v2r/s3_zhilk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6272"/>
            <a:ext cx="1920240" cy="2560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706624" y="2212848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Ванесса Жилкина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2706624" y="2852928"/>
            <a:ext cx="3584448" cy="969264"/>
          </a:xfrm>
          <a:prstGeom prst="roundRect">
            <a:avLst>
              <a:gd name="adj" fmla="val 13208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2834640" y="2852928"/>
            <a:ext cx="3328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2020 год — Победитель</a:t>
            </a:r>
            <a:endParaRPr lang="en-US" sz="1900" dirty="0"/>
          </a:p>
        </p:txBody>
      </p:sp>
      <p:sp>
        <p:nvSpPr>
          <p:cNvPr id="10" name="Shape 5"/>
          <p:cNvSpPr/>
          <p:nvPr/>
        </p:nvSpPr>
        <p:spPr>
          <a:xfrm>
            <a:off x="2706624" y="3931920"/>
            <a:ext cx="3584448" cy="804672"/>
          </a:xfrm>
          <a:prstGeom prst="roundRect">
            <a:avLst>
              <a:gd name="adj" fmla="val 15909"/>
            </a:avLst>
          </a:prstGeom>
          <a:solidFill>
            <a:srgbClr val="F2F5FC"/>
          </a:solidFill>
          <a:ln w="15875">
            <a:solidFill>
              <a:srgbClr val="1B3C8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834640" y="3931920"/>
            <a:ext cx="33284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Первый победитель школы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438912" y="2066544"/>
            <a:ext cx="731520" cy="731520"/>
          </a:xfrm>
          <a:prstGeom prst="ellipse">
            <a:avLst/>
          </a:prstGeom>
          <a:solidFill>
            <a:srgbClr val="8C1D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38912" y="20665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2020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384048" y="5166360"/>
            <a:ext cx="6089904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15" name="Image 2" descr="/tmp/claude-0/-home-user-SmartTVControl/c7267815-9774-5a8b-9a9f-04286a1d8dd3/scratchpad/project/out/prepared/v2r/s3_grichenk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30952"/>
            <a:ext cx="1920240" cy="255787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706624" y="5367528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Александр Гриченко</a:t>
            </a:r>
            <a:endParaRPr lang="en-US" sz="2400" dirty="0"/>
          </a:p>
        </p:txBody>
      </p:sp>
      <p:sp>
        <p:nvSpPr>
          <p:cNvPr id="17" name="Shape 11"/>
          <p:cNvSpPr/>
          <p:nvPr/>
        </p:nvSpPr>
        <p:spPr>
          <a:xfrm>
            <a:off x="2706624" y="6007608"/>
            <a:ext cx="3584448" cy="969264"/>
          </a:xfrm>
          <a:prstGeom prst="roundRect">
            <a:avLst>
              <a:gd name="adj" fmla="val 13208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2834640" y="6007608"/>
            <a:ext cx="3328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2021, 2022 год — Победитель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2706624" y="7086600"/>
            <a:ext cx="3584448" cy="804672"/>
          </a:xfrm>
          <a:prstGeom prst="roundRect">
            <a:avLst>
              <a:gd name="adj" fmla="val 15909"/>
            </a:avLst>
          </a:prstGeom>
          <a:solidFill>
            <a:srgbClr val="F2F5FC"/>
          </a:solidFill>
          <a:ln w="15875">
            <a:solidFill>
              <a:srgbClr val="1B3C8C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34640" y="7086600"/>
            <a:ext cx="33284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Дарит школе световой микроскоп, 2022 год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8912" y="5221224"/>
            <a:ext cx="731520" cy="731520"/>
          </a:xfrm>
          <a:prstGeom prst="ellipse">
            <a:avLst/>
          </a:prstGeom>
          <a:solidFill>
            <a:srgbClr val="8C1D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38912" y="52212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2021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384048" y="8321040"/>
            <a:ext cx="6089904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9050">
            <a:solidFill>
              <a:srgbClr val="1B3C8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24" name="Image 3" descr="/tmp/claude-0/-home-user-SmartTVControl/c7267815-9774-5a8b-9a9f-04286a1d8dd3/scratchpad/project/out/prepared/v2r/s3_zhukov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8485632"/>
            <a:ext cx="1920240" cy="2560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706624" y="8522208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3C8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Алёна Жукова</a:t>
            </a:r>
            <a:endParaRPr lang="en-US" sz="2400" dirty="0"/>
          </a:p>
        </p:txBody>
      </p:sp>
      <p:sp>
        <p:nvSpPr>
          <p:cNvPr id="26" name="Shape 19"/>
          <p:cNvSpPr/>
          <p:nvPr/>
        </p:nvSpPr>
        <p:spPr>
          <a:xfrm>
            <a:off x="2706624" y="9162288"/>
            <a:ext cx="3584448" cy="969264"/>
          </a:xfrm>
          <a:prstGeom prst="roundRect">
            <a:avLst>
              <a:gd name="adj" fmla="val 13208"/>
            </a:avLst>
          </a:prstGeom>
          <a:solidFill>
            <a:srgbClr val="8C1D3F"/>
          </a:solidFill>
          <a:ln w="19050">
            <a:solidFill>
              <a:srgbClr val="8C1D3F"/>
            </a:solidFill>
            <a:prstDash val="solid"/>
          </a:ln>
          <a:effectLst>
            <a:outerShdw sx="100000" sy="100000" kx="0" ky="0" algn="bl" rotWithShape="0" blurRad="114300" dist="25400" dir="5400000">
              <a:srgbClr val="6E1732">
                <a:alpha val="28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2834640" y="9162288"/>
            <a:ext cx="3328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 год — Абсолютный победитель, Лауреат I степени</a:t>
            </a:r>
            <a:endParaRPr lang="en-US" sz="1900" dirty="0"/>
          </a:p>
        </p:txBody>
      </p:sp>
      <p:sp>
        <p:nvSpPr>
          <p:cNvPr id="28" name="Shape 21"/>
          <p:cNvSpPr/>
          <p:nvPr/>
        </p:nvSpPr>
        <p:spPr>
          <a:xfrm>
            <a:off x="2706624" y="10241280"/>
            <a:ext cx="3584448" cy="804672"/>
          </a:xfrm>
          <a:prstGeom prst="roundRect">
            <a:avLst>
              <a:gd name="adj" fmla="val 15909"/>
            </a:avLst>
          </a:prstGeom>
          <a:solidFill>
            <a:srgbClr val="F2F5FC"/>
          </a:solidFill>
          <a:ln w="15875">
            <a:solidFill>
              <a:srgbClr val="1B3C8C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834640" y="10241280"/>
            <a:ext cx="33284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1B3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2023, 2025 год — Призёр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438912" y="8375904"/>
            <a:ext cx="731520" cy="731520"/>
          </a:xfrm>
          <a:prstGeom prst="ellipse">
            <a:avLst/>
          </a:prstGeom>
          <a:solidFill>
            <a:srgbClr val="8C1D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38912" y="83759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2024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b_mic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4048" y="274320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06407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Наука в школе: исследования учеников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384048" y="1920240"/>
            <a:ext cx="6089904" cy="2286000"/>
          </a:xfrm>
          <a:prstGeom prst="roundRect">
            <a:avLst>
              <a:gd name="adj" fmla="val 5600"/>
            </a:avLst>
          </a:prstGeom>
          <a:solidFill>
            <a:srgbClr val="0B69C7"/>
          </a:solidFill>
          <a:ln w="19050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05365F">
                <a:alpha val="2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603504" y="199339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30+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2761488" y="2048256"/>
            <a:ext cx="34930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учеников — научные волонтёры, гражданские учёные и соавторы Атласа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603504" y="3310128"/>
            <a:ext cx="2011680" cy="493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694944" y="331012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800" b="1" dirty="0">
                <a:solidFill>
                  <a:srgbClr val="0B69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2022–2024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384048" y="4434840"/>
            <a:ext cx="6089904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03504" y="4562856"/>
            <a:ext cx="5650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06407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Партнёрство и программа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03504" y="5129784"/>
            <a:ext cx="5650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Осенью 2022 года — партнёрство с ФГАОУ ВО «Новосибирский национальный исследовательский государственный университет» и вступление в программу ИХБФМ СО РАН «Всероссийский атлас почвенных микроорганизмов»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384048" y="8001000"/>
            <a:ext cx="6089904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9050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03504" y="8129016"/>
            <a:ext cx="5650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06407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Технологическая база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03504" y="8695944"/>
            <a:ext cx="5650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Получены исследовательские наборы, цифровые инструменты и образовательные ресурсы. Работа учеников переведена в плоскость доказательной науки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603504" y="10506456"/>
            <a:ext cx="5650992" cy="512064"/>
          </a:xfrm>
          <a:prstGeom prst="roundRect">
            <a:avLst>
              <a:gd name="adj" fmla="val 50000"/>
            </a:avLst>
          </a:prstGeom>
          <a:solidFill>
            <a:srgbClr val="0B69C7"/>
          </a:solidFill>
          <a:ln/>
        </p:spPr>
      </p:sp>
      <p:sp>
        <p:nvSpPr>
          <p:cNvPr id="17" name="Text 13"/>
          <p:cNvSpPr/>
          <p:nvPr/>
        </p:nvSpPr>
        <p:spPr>
          <a:xfrm>
            <a:off x="694944" y="10506456"/>
            <a:ext cx="5468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ИХБФМ СО РАН · НГУ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b_mic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" y="1280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6407A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" y="128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384048" y="603504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06407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Наука в школе: исследования учеников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384048" y="2331720"/>
            <a:ext cx="6089904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5875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8" name="Image 1" descr="/tmp/claude-0/-home-user-SmartTVControl/c7267815-9774-5a8b-9a9f-04286a1d8dd3/scratchpad/project/out/prepared/v2r/s4_starter_k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78024"/>
            <a:ext cx="4114800" cy="3088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3504" y="5715000"/>
            <a:ext cx="5650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Стартовый набор «Охотники за микробами» и образцы почв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384048" y="7086600"/>
            <a:ext cx="6089904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5875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11" name="Image 2" descr="/tmp/claude-0/-home-user-SmartTVControl/c7267815-9774-5a8b-9a9f-04286a1d8dd3/scratchpad/project/out/prepared/v2r/s4_diplomy_atl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7232904"/>
            <a:ext cx="4114800" cy="308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3504" y="10469880"/>
            <a:ext cx="5650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Дипломы наставника Еременко А.М. и соавторов «Всероссийского атласа почвенных микроорганизмов», 2022 год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b_mic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" y="1280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6407A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" y="128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384048" y="603504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06407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Наука в школе: исследования учеников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384048" y="2331720"/>
            <a:ext cx="6089904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5875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8" name="Image 1" descr="/tmp/claude-0/-home-user-SmartTVControl/c7267815-9774-5a8b-9a9f-04286a1d8dd3/scratchpad/project/out/prepared/v2r/s4_nagrazhdenie_20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78024"/>
            <a:ext cx="4114800" cy="3088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3504" y="5715000"/>
            <a:ext cx="5650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Награждение гражданских учёных, волонтёров науки, соавторов «Всероссийского атласа почвенных микроорганизмов», 2024 год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384048" y="7086600"/>
            <a:ext cx="6089904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5875">
            <a:solidFill>
              <a:srgbClr val="0B69C7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pic>
        <p:nvPicPr>
          <p:cNvPr id="11" name="Image 2" descr="/tmp/claude-0/-home-user-SmartTVControl/c7267815-9774-5a8b-9a9f-04286a1d8dd3/scratchpad/project/out/prepared/v2r/s4_shtammy_ihbf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7232904"/>
            <a:ext cx="4114800" cy="308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3504" y="10469880"/>
            <a:ext cx="5650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640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Штаммы выделенных почвенных бактерий перед отправкой в ИХБФМ СО РАН, 2023 год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mic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4048" y="274320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Наши общие победы: ключевые участники проектов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384048" y="1920240"/>
            <a:ext cx="6089904" cy="8823960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pic>
        <p:nvPicPr>
          <p:cNvPr id="6" name="Image 1" descr="/tmp/claude-0/-home-user-SmartTVControl/c7267815-9774-5a8b-9a9f-04286a1d8dd3/scratchpad/project/out/prepared/v2r/s5_zhuko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94560"/>
            <a:ext cx="2743200" cy="2743200"/>
          </a:xfrm>
          <a:prstGeom prst="rect">
            <a:avLst/>
          </a:prstGeom>
        </p:spPr>
      </p:pic>
      <p:pic>
        <p:nvPicPr>
          <p:cNvPr id="7" name="Image 2" descr="/tmp/claude-0/-home-user-SmartTVControl/c7267815-9774-5a8b-9a9f-04286a1d8dd3/scratchpad/project/out/prepared/v2r/s5_circ_azo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2194560"/>
            <a:ext cx="1554480" cy="1554480"/>
          </a:xfrm>
          <a:prstGeom prst="rect">
            <a:avLst/>
          </a:prstGeom>
        </p:spPr>
      </p:pic>
      <p:pic>
        <p:nvPicPr>
          <p:cNvPr id="8" name="Image 3" descr="/tmp/claude-0/-home-user-SmartTVControl/c7267815-9774-5a8b-9a9f-04286a1d8dd3/scratchpad/project/out/prepared/v2r/s5_ins_ku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931920"/>
            <a:ext cx="1554480" cy="155448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603504" y="5166360"/>
            <a:ext cx="5650992" cy="1051560"/>
          </a:xfrm>
          <a:prstGeom prst="roundRect">
            <a:avLst>
              <a:gd name="adj" fmla="val 12174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0" name="Text 3"/>
          <p:cNvSpPr/>
          <p:nvPr/>
        </p:nvSpPr>
        <p:spPr>
          <a:xfrm>
            <a:off x="713232" y="5166360"/>
            <a:ext cx="5431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Алёна Жукова</a:t>
            </a:r>
            <a:endParaRPr lang="en-US" sz="3200" dirty="0"/>
          </a:p>
        </p:txBody>
      </p:sp>
      <p:sp>
        <p:nvSpPr>
          <p:cNvPr id="11" name="Text 4"/>
          <p:cNvSpPr/>
          <p:nvPr/>
        </p:nvSpPr>
        <p:spPr>
          <a:xfrm>
            <a:off x="621792" y="6492240"/>
            <a:ext cx="56144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«Большая Перемена»: 2024 — Абсолютный победитель, Лауреат I степени; призёр 2023 и 2025</a:t>
            </a:r>
            <a:endParaRPr lang="en-US" sz="2200" dirty="0"/>
          </a:p>
          <a:p>
            <a:pPr algn="l"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«Большие Вызовы» 2022–2023 — победитель регионального трека; тема: скрининг азотфиксирующих бактерий, Azotobacter</a:t>
            </a:r>
            <a:endParaRPr lang="en-US" sz="2200" dirty="0"/>
          </a:p>
          <a:p>
            <a:pPr algn="l" marL="190500" indent="-190500">
              <a:lnSpc>
                <a:spcPct val="102000"/>
              </a:lnSpc>
              <a:buSzPct val="100000"/>
              <a:buChar char="•"/>
            </a:pPr>
            <a:r>
              <a:rPr lang="en-US" sz="22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2× победитель НПК (Базарный Карабулак); финалист «Экопоколения»; амбассадор юннатского движения</a:t>
            </a:r>
            <a:endParaRPr lang="en-US" sz="2200" dirty="0"/>
          </a:p>
        </p:txBody>
      </p:sp>
      <p:sp>
        <p:nvSpPr>
          <p:cNvPr id="12" name="Shape 5"/>
          <p:cNvSpPr/>
          <p:nvPr/>
        </p:nvSpPr>
        <p:spPr>
          <a:xfrm>
            <a:off x="384048" y="10927080"/>
            <a:ext cx="6089904" cy="777240"/>
          </a:xfrm>
          <a:prstGeom prst="roundRect">
            <a:avLst>
              <a:gd name="adj" fmla="val 16471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13" name="Text 6"/>
          <p:cNvSpPr/>
          <p:nvPr/>
        </p:nvSpPr>
        <p:spPr>
          <a:xfrm>
            <a:off x="512064" y="10927080"/>
            <a:ext cx="5833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Наставник проектных команд: учитель биологии Еременко А.М.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mic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" y="1280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315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" y="128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384048" y="603504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Наши общие победы: ключевые участники проектов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384048" y="2331720"/>
            <a:ext cx="6089904" cy="8412480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pic>
        <p:nvPicPr>
          <p:cNvPr id="8" name="Image 1" descr="/tmp/claude-0/-home-user-SmartTVControl/c7267815-9774-5a8b-9a9f-04286a1d8dd3/scratchpad/project/out/prepared/v2r/s5_kolyask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06040"/>
            <a:ext cx="2743200" cy="2743200"/>
          </a:xfrm>
          <a:prstGeom prst="rect">
            <a:avLst/>
          </a:prstGeom>
        </p:spPr>
      </p:pic>
      <p:pic>
        <p:nvPicPr>
          <p:cNvPr id="9" name="Image 2" descr="/tmp/claude-0/-home-user-SmartTVControl/c7267815-9774-5a8b-9a9f-04286a1d8dd3/scratchpad/project/out/prepared/v2r/s5_circ_stre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2606040"/>
            <a:ext cx="1554480" cy="155448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03504" y="5577840"/>
            <a:ext cx="5650992" cy="1051560"/>
          </a:xfrm>
          <a:prstGeom prst="roundRect">
            <a:avLst>
              <a:gd name="adj" fmla="val 12174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713232" y="5577840"/>
            <a:ext cx="5431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Ульяна Коляскина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621792" y="6903720"/>
            <a:ext cx="561441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Призёр регионального трека «Больших Вызовов» 2023–2024; агропромышленные и биотехнологии</a:t>
            </a:r>
            <a:endParaRPr lang="en-US" sz="2200" dirty="0"/>
          </a:p>
          <a:p>
            <a:pPr algn="l"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Тема: поиск продуцентов природных антибиотиков, штаммы Streptomyces</a:t>
            </a:r>
            <a:endParaRPr lang="en-US" sz="2200" dirty="0"/>
          </a:p>
          <a:p>
            <a:pPr algn="l" marL="190500" indent="-190500">
              <a:lnSpc>
                <a:spcPct val="102000"/>
              </a:lnSpc>
              <a:buSzPct val="100000"/>
              <a:buChar char="•"/>
            </a:pPr>
            <a:r>
              <a:rPr lang="en-US" sz="22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Призёр Всероссийской метапредметной НПК (Базарный Карабулак)</a:t>
            </a:r>
            <a:endParaRPr lang="en-US" sz="2200" dirty="0"/>
          </a:p>
        </p:txBody>
      </p:sp>
      <p:sp>
        <p:nvSpPr>
          <p:cNvPr id="13" name="Shape 7"/>
          <p:cNvSpPr/>
          <p:nvPr/>
        </p:nvSpPr>
        <p:spPr>
          <a:xfrm>
            <a:off x="384048" y="10927080"/>
            <a:ext cx="6089904" cy="777240"/>
          </a:xfrm>
          <a:prstGeom prst="roundRect">
            <a:avLst>
              <a:gd name="adj" fmla="val 16471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512064" y="10927080"/>
            <a:ext cx="5833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Наставник проектных команд: учитель биологии Еременко А.М.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mic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" y="1280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315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" y="128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384048" y="603504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Наши общие победы: ключевые участники проектов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384048" y="2331720"/>
            <a:ext cx="6089904" cy="8412480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pic>
        <p:nvPicPr>
          <p:cNvPr id="8" name="Image 1" descr="/tmp/claude-0/-home-user-SmartTVControl/c7267815-9774-5a8b-9a9f-04286a1d8dd3/scratchpad/project/out/prepared/v2r/s5_petro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06040"/>
            <a:ext cx="2743200" cy="27432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03504" y="5577840"/>
            <a:ext cx="5650992" cy="1051560"/>
          </a:xfrm>
          <a:prstGeom prst="roundRect">
            <a:avLst>
              <a:gd name="adj" fmla="val 12174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713232" y="5577840"/>
            <a:ext cx="5431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Софья Петрова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621792" y="6903720"/>
            <a:ext cx="561441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Финалист Всероссийского конкурса «Большая Перемена» (2022 г.)</a:t>
            </a:r>
            <a:endParaRPr lang="en-US" sz="2200" dirty="0"/>
          </a:p>
          <a:p>
            <a:pPr algn="l"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Победитель регионального трека «АгроНТИ-2022», направление «АгроРоботы»</a:t>
            </a:r>
            <a:endParaRPr lang="en-US" sz="2200" dirty="0"/>
          </a:p>
          <a:p>
            <a:pPr algn="l" marL="190500" indent="-190500">
              <a:lnSpc>
                <a:spcPct val="102000"/>
              </a:lnSpc>
              <a:buSzPct val="100000"/>
              <a:buChar char="•"/>
            </a:pPr>
            <a:r>
              <a:rPr lang="en-US" sz="22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Освоила управление роботами с нуля по видеоурокам</a:t>
            </a:r>
            <a:endParaRPr lang="en-US" sz="2200" dirty="0"/>
          </a:p>
        </p:txBody>
      </p:sp>
      <p:sp>
        <p:nvSpPr>
          <p:cNvPr id="12" name="Shape 7"/>
          <p:cNvSpPr/>
          <p:nvPr/>
        </p:nvSpPr>
        <p:spPr>
          <a:xfrm>
            <a:off x="384048" y="10927080"/>
            <a:ext cx="6089904" cy="777240"/>
          </a:xfrm>
          <a:prstGeom prst="roundRect">
            <a:avLst>
              <a:gd name="adj" fmla="val 16471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512064" y="10927080"/>
            <a:ext cx="5833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Наставник проектных команд: учитель биологии Еременко А.М.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mic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" y="1280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315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" y="128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384048" y="603504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Наши общие победы: ключевые участники проектов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384048" y="2331720"/>
            <a:ext cx="6089904" cy="8412480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pic>
        <p:nvPicPr>
          <p:cNvPr id="8" name="Image 1" descr="/tmp/claude-0/-home-user-SmartTVControl/c7267815-9774-5a8b-9a9f-04286a1d8dd3/scratchpad/project/out/prepared/v2r/s5_elizaro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06040"/>
            <a:ext cx="2743200" cy="27432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03504" y="5577840"/>
            <a:ext cx="5650992" cy="1051560"/>
          </a:xfrm>
          <a:prstGeom prst="roundRect">
            <a:avLst>
              <a:gd name="adj" fmla="val 12174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713232" y="5577840"/>
            <a:ext cx="5431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Вероника Елизарова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621792" y="6903720"/>
            <a:ext cx="561441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Абсолютный победитель регионального этапа Всероссийского конкурса презентаций «Многоликая Россия» (2026 г.)</a:t>
            </a:r>
            <a:endParaRPr lang="en-US" sz="2200" dirty="0"/>
          </a:p>
          <a:p>
            <a:pPr algn="l" marL="190500" indent="-1905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Номинация: Дальневосточный федеральный округ</a:t>
            </a:r>
            <a:endParaRPr lang="en-US" sz="2200" dirty="0"/>
          </a:p>
          <a:p>
            <a:pPr algn="l" marL="190500" indent="-190500">
              <a:lnSpc>
                <a:spcPct val="102000"/>
              </a:lnSpc>
              <a:buSzPct val="100000"/>
              <a:buChar char="•"/>
            </a:pPr>
            <a:r>
              <a:rPr lang="en-US" sz="22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«Тункинский национальный парк»</a:t>
            </a:r>
            <a:endParaRPr lang="en-US" sz="2200" dirty="0"/>
          </a:p>
        </p:txBody>
      </p:sp>
      <p:sp>
        <p:nvSpPr>
          <p:cNvPr id="12" name="Shape 7"/>
          <p:cNvSpPr/>
          <p:nvPr/>
        </p:nvSpPr>
        <p:spPr>
          <a:xfrm>
            <a:off x="384048" y="10927080"/>
            <a:ext cx="6089904" cy="777240"/>
          </a:xfrm>
          <a:prstGeom prst="roundRect">
            <a:avLst>
              <a:gd name="adj" fmla="val 16471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512064" y="10927080"/>
            <a:ext cx="5833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Наставник проектных команд: учитель биологии Еременко А.М.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ce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4048" y="274320"/>
            <a:ext cx="6089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Наставник растёт вместе с учениками</a:t>
            </a:r>
            <a:endParaRPr lang="en-US" sz="3600" dirty="0"/>
          </a:p>
        </p:txBody>
      </p:sp>
      <p:pic>
        <p:nvPicPr>
          <p:cNvPr id="5" name="Image 1" descr="/tmp/claude-0/-home-user-SmartTVControl/c7267815-9774-5a8b-9a9f-04286a1d8dd3/scratchpad/project/out/prepared/v2/s6_docs_fan_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5120640" cy="2453640"/>
          </a:xfrm>
          <a:prstGeom prst="rect">
            <a:avLst/>
          </a:prstGeom>
        </p:spPr>
      </p:pic>
      <p:pic>
        <p:nvPicPr>
          <p:cNvPr id="6" name="Image 2" descr="/tmp/claude-0/-home-user-SmartTVControl/c7267815-9774-5a8b-9a9f-04286a1d8dd3/scratchpad/project/out/prepared/v2/s6_nagrady_coll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45920"/>
            <a:ext cx="5669280" cy="489800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84048" y="6720840"/>
            <a:ext cx="6089904" cy="1737360"/>
          </a:xfrm>
          <a:prstGeom prst="roundRect">
            <a:avLst>
              <a:gd name="adj" fmla="val 7368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8" name="Text 2"/>
          <p:cNvSpPr/>
          <p:nvPr/>
        </p:nvSpPr>
        <p:spPr>
          <a:xfrm>
            <a:off x="603504" y="6720840"/>
            <a:ext cx="5650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Благодарность Первого заместителя Руководителя Администрации Президента Российской Федерации С. В. Кириенко — 2020, 2021, 2022 и 2024 годы</a:t>
            </a:r>
            <a:endParaRPr lang="en-US" sz="2000" dirty="0"/>
          </a:p>
        </p:txBody>
      </p:sp>
      <p:pic>
        <p:nvPicPr>
          <p:cNvPr id="9" name="Image 3" descr="/tmp/claude-0/-home-user-SmartTVControl/c7267815-9774-5a8b-9a9f-04286a1d8dd3/scratchpad/project/out/prepared/v2r/s6_arte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9144000"/>
            <a:ext cx="2011680" cy="145810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2578608" y="8641080"/>
            <a:ext cx="3895344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11" name="Text 4"/>
          <p:cNvSpPr/>
          <p:nvPr/>
        </p:nvSpPr>
        <p:spPr>
          <a:xfrm>
            <a:off x="2706624" y="8732520"/>
            <a:ext cx="3639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Удостоверение о повышении квалификации ФГБОУ «Международный детский центр „Артек“» по программе «Современные инструменты наставничества в воспитательной деятельности образовательной организации», 36 часов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ce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" y="1280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315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" y="128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384048" y="603504"/>
            <a:ext cx="6089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Наставник растёт вместе с учениками</a:t>
            </a:r>
            <a:endParaRPr lang="en-US" sz="3600" dirty="0"/>
          </a:p>
        </p:txBody>
      </p:sp>
      <p:pic>
        <p:nvPicPr>
          <p:cNvPr id="7" name="Image 1" descr="/tmp/claude-0/-home-user-SmartTVControl/c7267815-9774-5a8b-9a9f-04286a1d8dd3/scratchpad/project/out/prepared/v2r/s6_foto_vruchen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011680"/>
            <a:ext cx="4206240" cy="31485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5488" y="5324803"/>
            <a:ext cx="5907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Вручение благодарности Первого заместителя Руководителя Администрации Президента Российской Федерации С. В. Кириенко</a:t>
            </a:r>
            <a:endParaRPr lang="en-US" sz="1900" dirty="0"/>
          </a:p>
        </p:txBody>
      </p:sp>
      <p:pic>
        <p:nvPicPr>
          <p:cNvPr id="9" name="Image 2" descr="/tmp/claude-0/-home-user-SmartTVControl/c7267815-9774-5a8b-9a9f-04286a1d8dd3/scratchpad/project/out/prepared/v2r/s6_foto_grupp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949440"/>
            <a:ext cx="4206240" cy="315268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75488" y="10266717"/>
            <a:ext cx="5907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Групповая работа наставников победителей на образовательной программе при решении кейсов. Почувствуй себя в роли наставляемого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ne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4048" y="274320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Проект школьных инициатив — от мечты к реальности!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384048" y="2011680"/>
            <a:ext cx="6089904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85216" y="2157984"/>
            <a:ext cx="5687568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Идея создания научной лаборатории. </a:t>
            </a:r>
            <a:pPr algn="l" indent="0" marL="0">
              <a:lnSpc>
                <a:spcPct val="102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Идея создания научной лаборатории в кабинете биологии для формирования экологически ответственного поведения и развития научной деятельности среди школьников возникала неоднократно, когда ученики выполняли научно-исследовательские проекты. Ребята участвовали в экологических конкурсах для получения гранта на открытие лаборатории.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384048" y="6839712"/>
            <a:ext cx="6089904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5216" y="6986016"/>
            <a:ext cx="5687568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Катализатор — начало открытия. </a:t>
            </a:r>
            <a:pPr algn="l" indent="0" marL="0">
              <a:lnSpc>
                <a:spcPct val="102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Гриченко Александр, став победителем Всероссийского конкурса «Большая Перемена», получает премию и в 2022 году передаёт в дар современный световой микроскоп — это стало отправной точкой на пути к открытию школьной лаборатории.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ne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" y="1280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315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" y="128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384048" y="603504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Проект школьных инициатив — от мечты к реальности!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384048" y="2331720"/>
            <a:ext cx="6089904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5216" y="2478024"/>
            <a:ext cx="5687568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Предложение проекта и первый этап. </a:t>
            </a:r>
            <a:pPr algn="l" indent="0" marL="0">
              <a:lnSpc>
                <a:spcPct val="102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 ноября 2024 года Жукова Алёна, Бондаренко София на школьном этапе конкурса «Проект школьных инициатив» представили проект «Научная лаборатория БиоЛаб» и по результатам голосования прошли на муниципальный этап конкурса.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384048" y="6519672"/>
            <a:ext cx="6089904" cy="475488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85216" y="6665976"/>
            <a:ext cx="5687568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Результат и успешная защита. </a:t>
            </a:r>
            <a:pPr algn="l" indent="0" marL="0">
              <a:lnSpc>
                <a:spcPct val="102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муниципальном этапе конкурса при поддержке заместителя директора по ВР Папиной А.Н., заместителя директора по ИКТ Кулагина Артура Александровича Жукова Алёна и Ланцев Никита успешно защищают проект, и в школе в кабинете биологии появляется экологическое пространство с учебно-исследовательской лабораторией биосигналов и нейротехнологий.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ne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" y="1280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315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" y="128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384048" y="603504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Проект школьных инициатив — от мечты к реальности!</a:t>
            </a:r>
            <a:endParaRPr lang="en-US" sz="3400" dirty="0"/>
          </a:p>
        </p:txBody>
      </p:sp>
      <p:pic>
        <p:nvPicPr>
          <p:cNvPr id="7" name="Image 1" descr="/tmp/claude-0/-home-user-SmartTVControl/c7267815-9774-5a8b-9a9f-04286a1d8dd3/scratchpad/project/out/prepared/v2r/s7_zashchi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5486400" cy="3657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5488" y="6172200"/>
            <a:ext cx="5907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Жукова Алёна, Ланцев Никита успешно защищают проект «БиоЛаб» на муниципальном этапе конкурса «Школьная инициатива»</a:t>
            </a:r>
            <a:endParaRPr lang="en-US" sz="1900" dirty="0"/>
          </a:p>
        </p:txBody>
      </p:sp>
      <p:pic>
        <p:nvPicPr>
          <p:cNvPr id="9" name="Image 2" descr="/tmp/claude-0/-home-user-SmartTVControl/c7267815-9774-5a8b-9a9f-04286a1d8dd3/scratchpad/project/out/prepared/v2r/s7_biolab_ro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680960"/>
            <a:ext cx="5486400" cy="380869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75488" y="11672537"/>
            <a:ext cx="5907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Школьная научная лаборатория «БиоЛаб»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ne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4048" y="274320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«БиоЛаб» в работе: команда и исследования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384048" y="1920240"/>
            <a:ext cx="6089904" cy="1051560"/>
          </a:xfrm>
          <a:prstGeom prst="roundRect">
            <a:avLst>
              <a:gd name="adj" fmla="val 12174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12064" y="1920240"/>
            <a:ext cx="5833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Наставник проекта: Еременко Анна Михайловна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384048" y="3154680"/>
            <a:ext cx="6089904" cy="5074920"/>
          </a:xfrm>
          <a:prstGeom prst="roundRect">
            <a:avLst>
              <a:gd name="adj" fmla="val 2523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0080" y="32918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Исследователи — ученики 10 класса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40080" y="3931920"/>
            <a:ext cx="2679192" cy="676656"/>
          </a:xfrm>
          <a:prstGeom prst="roundRect">
            <a:avLst>
              <a:gd name="adj" fmla="val 16216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8096" y="3931920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Владимирова Диана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538728" y="3931920"/>
            <a:ext cx="2679192" cy="676656"/>
          </a:xfrm>
          <a:prstGeom prst="roundRect">
            <a:avLst>
              <a:gd name="adj" fmla="val 16216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66744" y="3931920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Видонов Артём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40080" y="4736592"/>
            <a:ext cx="2679192" cy="676656"/>
          </a:xfrm>
          <a:prstGeom prst="roundRect">
            <a:avLst>
              <a:gd name="adj" fmla="val 16216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473659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Гужов Алексей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538728" y="4736592"/>
            <a:ext cx="2679192" cy="676656"/>
          </a:xfrm>
          <a:prstGeom prst="roundRect">
            <a:avLst>
              <a:gd name="adj" fmla="val 16216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66744" y="473659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Елизарова Вероника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40080" y="5541264"/>
            <a:ext cx="2679192" cy="676656"/>
          </a:xfrm>
          <a:prstGeom prst="roundRect">
            <a:avLst>
              <a:gd name="adj" fmla="val 16216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8096" y="5541264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Иванова Диана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3538728" y="5541264"/>
            <a:ext cx="2679192" cy="676656"/>
          </a:xfrm>
          <a:prstGeom prst="roundRect">
            <a:avLst>
              <a:gd name="adj" fmla="val 16216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66744" y="5541264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Малышева Анастасия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40080" y="6345936"/>
            <a:ext cx="2679192" cy="676656"/>
          </a:xfrm>
          <a:prstGeom prst="roundRect">
            <a:avLst>
              <a:gd name="adj" fmla="val 16216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8096" y="6345936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Рощин Алексей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3538728" y="6345936"/>
            <a:ext cx="2679192" cy="676656"/>
          </a:xfrm>
          <a:prstGeom prst="roundRect">
            <a:avLst>
              <a:gd name="adj" fmla="val 16216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66744" y="6345936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Татушенко Егор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640080" y="7150608"/>
            <a:ext cx="2679192" cy="676656"/>
          </a:xfrm>
          <a:prstGeom prst="roundRect">
            <a:avLst>
              <a:gd name="adj" fmla="val 16216"/>
            </a:avLst>
          </a:prstGeom>
          <a:solidFill>
            <a:srgbClr val="20406F"/>
          </a:solidFill>
          <a:ln w="12700">
            <a:solidFill>
              <a:srgbClr val="48669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8096" y="7150608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Тропников Иван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384048" y="8412480"/>
            <a:ext cx="6089904" cy="1325880"/>
          </a:xfrm>
          <a:prstGeom prst="roundRect">
            <a:avLst>
              <a:gd name="adj" fmla="val 9655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585216" y="8412480"/>
            <a:ext cx="5687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Ассистенты проекта (ученицы 5 «Б» класса): Виноградова Алиса, Радаева София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384048" y="9921240"/>
            <a:ext cx="6089904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31750">
            <a:solidFill>
              <a:srgbClr val="1E7A2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3C4">
                <a:alpha val="2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585216" y="9921240"/>
            <a:ext cx="56875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2100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Преемственность поколений: когда старшие ученики становятся наставниками для младших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ec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4048" y="274320"/>
            <a:ext cx="6089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Практическая наука в «БиоЛаб»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384048" y="1645920"/>
            <a:ext cx="6089904" cy="7223760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85216" y="1792224"/>
            <a:ext cx="5687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Эксперимент №1</a:t>
            </a:r>
            <a:endParaRPr lang="en-US" sz="2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«От сердца к цифре»</a:t>
            </a:r>
            <a:endParaRPr lang="en-US" sz="2400" dirty="0"/>
          </a:p>
        </p:txBody>
      </p:sp>
      <p:pic>
        <p:nvPicPr>
          <p:cNvPr id="7" name="Image 1" descr="/tmp/claude-0/-home-user-SmartTVControl/c7267815-9774-5a8b-9a9f-04286a1d8dd3/scratchpad/project/out/prepared/v2r/s9_ec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89504"/>
            <a:ext cx="4937760" cy="269930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5216" y="5789981"/>
            <a:ext cx="5687568" cy="22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регистрация биосигналов и расчёт ЧСС.</a:t>
            </a:r>
            <a:endParaRPr lang="en-US" sz="2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Достижения: освоена техника I отведения и настройки фильтрации.</a:t>
            </a:r>
            <a:endParaRPr lang="en-US" sz="2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Результат: биосигналы переведены в точные цифровые данные.</a:t>
            </a:r>
            <a:endParaRPr lang="en-US" sz="2100" dirty="0"/>
          </a:p>
        </p:txBody>
      </p:sp>
      <p:sp>
        <p:nvSpPr>
          <p:cNvPr id="9" name="Shape 4"/>
          <p:cNvSpPr/>
          <p:nvPr/>
        </p:nvSpPr>
        <p:spPr>
          <a:xfrm>
            <a:off x="566928" y="8174736"/>
            <a:ext cx="5724144" cy="548640"/>
          </a:xfrm>
          <a:prstGeom prst="roundRect">
            <a:avLst>
              <a:gd name="adj" fmla="val 50000"/>
            </a:avLst>
          </a:prstGeom>
          <a:solidFill>
            <a:srgbClr val="2E9B3E"/>
          </a:solidFill>
          <a:ln/>
        </p:spPr>
      </p:sp>
      <p:sp>
        <p:nvSpPr>
          <p:cNvPr id="10" name="Text 5"/>
          <p:cNvSpPr/>
          <p:nvPr/>
        </p:nvSpPr>
        <p:spPr>
          <a:xfrm>
            <a:off x="658368" y="8174736"/>
            <a:ext cx="5541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Вердикт: гипотеза подтверждена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384048" y="9052560"/>
            <a:ext cx="6089904" cy="2697480"/>
          </a:xfrm>
          <a:prstGeom prst="roundRect">
            <a:avLst>
              <a:gd name="adj" fmla="val 4746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585216" y="9162288"/>
            <a:ext cx="5687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Математический фундамент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603504" y="9784080"/>
            <a:ext cx="5650992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58368" y="9893808"/>
            <a:ext cx="5541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ЧСС = 60 / Δt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749808" y="10698480"/>
            <a:ext cx="5358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7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уд./мин, где Δt — интервал R–R в секундах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ec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" y="1280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315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" y="128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384048" y="603504"/>
            <a:ext cx="6089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Практическая наука в «БиоЛаб»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384048" y="2011680"/>
            <a:ext cx="6089904" cy="7635240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5216" y="2157984"/>
            <a:ext cx="56875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Эксперимент №2</a:t>
            </a:r>
            <a:endParaRPr lang="en-US" sz="2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«Исследование адаптации сердца</a:t>
            </a:r>
            <a:endParaRPr lang="en-US" sz="2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к нагрузкам»</a:t>
            </a:r>
            <a:endParaRPr lang="en-US" sz="2400" dirty="0"/>
          </a:p>
        </p:txBody>
      </p:sp>
      <p:pic>
        <p:nvPicPr>
          <p:cNvPr id="9" name="Image 1" descr="/tmp/claude-0/-home-user-SmartTVControl/c7267815-9774-5a8b-9a9f-04286a1d8dd3/scratchpad/project/out/prepared/v2r/s9_t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666744"/>
            <a:ext cx="4937760" cy="26993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5216" y="6567221"/>
            <a:ext cx="5687568" cy="22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динамический цифровой мониторинг и интерпретация ЭКГ.</a:t>
            </a:r>
            <a:endParaRPr lang="en-US" sz="2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Успех: лаборатория визуализировала динамическую адаптацию организма — физическая активность вызывает закономерное сокращение кардиоинтервала.</a:t>
            </a:r>
            <a:endParaRPr lang="en-US" sz="2100" dirty="0"/>
          </a:p>
        </p:txBody>
      </p:sp>
      <p:sp>
        <p:nvSpPr>
          <p:cNvPr id="11" name="Shape 6"/>
          <p:cNvSpPr/>
          <p:nvPr/>
        </p:nvSpPr>
        <p:spPr>
          <a:xfrm>
            <a:off x="566928" y="8951976"/>
            <a:ext cx="5724144" cy="548640"/>
          </a:xfrm>
          <a:prstGeom prst="roundRect">
            <a:avLst>
              <a:gd name="adj" fmla="val 50000"/>
            </a:avLst>
          </a:prstGeom>
          <a:solidFill>
            <a:srgbClr val="2E9B3E"/>
          </a:solidFill>
          <a:ln/>
        </p:spPr>
      </p:sp>
      <p:sp>
        <p:nvSpPr>
          <p:cNvPr id="12" name="Text 7"/>
          <p:cNvSpPr/>
          <p:nvPr/>
        </p:nvSpPr>
        <p:spPr>
          <a:xfrm>
            <a:off x="658368" y="8951976"/>
            <a:ext cx="5541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Вердикт: гипотеза подтверждена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384048" y="9875520"/>
            <a:ext cx="6089904" cy="1325880"/>
          </a:xfrm>
          <a:prstGeom prst="roundRect">
            <a:avLst>
              <a:gd name="adj" fmla="val 9655"/>
            </a:avLst>
          </a:prstGeom>
          <a:solidFill>
            <a:srgbClr val="1D44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58368" y="10104120"/>
            <a:ext cx="859536" cy="859536"/>
          </a:xfrm>
          <a:prstGeom prst="ellipse">
            <a:avLst/>
          </a:prstGeom>
          <a:solidFill>
            <a:srgbClr val="2E9B3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 rot="5400000">
            <a:off x="941832" y="10323576"/>
            <a:ext cx="329184" cy="420624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6" name="Text 11"/>
          <p:cNvSpPr/>
          <p:nvPr/>
        </p:nvSpPr>
        <p:spPr>
          <a:xfrm>
            <a:off x="1737360" y="9875520"/>
            <a:ext cx="4517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Видеофрагмент: ребята показывают ход эксперимента и расчёты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384048" y="11320272"/>
            <a:ext cx="6089904" cy="530352"/>
          </a:xfrm>
          <a:prstGeom prst="roundRect">
            <a:avLst>
              <a:gd name="adj" fmla="val 50000"/>
            </a:avLst>
          </a:prstGeom>
          <a:solidFill>
            <a:srgbClr val="2E9B3E"/>
          </a:solidFill>
          <a:ln/>
        </p:spPr>
      </p:sp>
      <p:sp>
        <p:nvSpPr>
          <p:cNvPr id="18" name="Text 13"/>
          <p:cNvSpPr/>
          <p:nvPr/>
        </p:nvSpPr>
        <p:spPr>
          <a:xfrm>
            <a:off x="475488" y="11320272"/>
            <a:ext cx="5907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Цифровая лаборатория «Радуга»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4048" y="274320"/>
            <a:ext cx="6089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Перспективные направления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384048" y="1600200"/>
            <a:ext cx="60899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E7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наступающем учебном году в нашей школьной лаборатории мы планируем развивать два перспективных научно-исследовательских вектора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384048" y="3429000"/>
            <a:ext cx="6089904" cy="8321040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48640" y="3557016"/>
            <a:ext cx="5760720" cy="777240"/>
          </a:xfrm>
          <a:prstGeom prst="roundRect">
            <a:avLst>
              <a:gd name="adj" fmla="val 16471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355701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Вектор классической биологии (5–7 классы)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03504" y="4471416"/>
            <a:ext cx="5650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Тема: </a:t>
            </a:r>
            <a:pPr indent="0" marL="0">
              <a:lnSpc>
                <a:spcPct val="102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«Экспериментальное исследование факторов успешной вегетативной репродукции лимонов сортов „Лунарио“ и „Павловский“ с изучением их морфометрических признаков»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03504" y="6574536"/>
            <a:ext cx="5650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Направленность: </a:t>
            </a:r>
            <a:pPr indent="0" marL="0">
              <a:lnSpc>
                <a:spcPct val="102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«Сравнительный морфологический анализ, оценка регенерационного потенциала тканей и выявление оптимальных условий экзогенной регуляции ризогенеза»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585216" y="8659368"/>
            <a:ext cx="1883664" cy="2462784"/>
          </a:xfrm>
          <a:prstGeom prst="roundRect">
            <a:avLst>
              <a:gd name="adj" fmla="val 6796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</p:spPr>
      </p:sp>
      <p:pic>
        <p:nvPicPr>
          <p:cNvPr id="12" name="Image 1" descr="/tmp/claude-0/-home-user-SmartTVControl/c7267815-9774-5a8b-9a9f-04286a1d8dd3/scratchpad/project/out/prepared/v2r/s10_limon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8732520"/>
            <a:ext cx="1737360" cy="2316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70048" y="8750808"/>
            <a:ext cx="35295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Маточные кустики сортовых лимонов «Лунарио» и «Павловский» (для экспериментов)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2670048" y="1051560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2E9B3E"/>
          </a:solidFill>
          <a:ln/>
        </p:spPr>
      </p:sp>
      <p:sp>
        <p:nvSpPr>
          <p:cNvPr id="15" name="Text 10"/>
          <p:cNvSpPr/>
          <p:nvPr/>
        </p:nvSpPr>
        <p:spPr>
          <a:xfrm>
            <a:off x="2761488" y="10515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5–7 классы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" y="1280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315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" y="128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384048" y="603504"/>
            <a:ext cx="6089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Перспективные направления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384048" y="2011680"/>
            <a:ext cx="6089904" cy="9098280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2148840"/>
            <a:ext cx="5760720" cy="777240"/>
          </a:xfrm>
          <a:prstGeom prst="roundRect">
            <a:avLst>
              <a:gd name="adj" fmla="val 16471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21488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Вектор Data Science и биомедицины (9–11 классы)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03504" y="3063240"/>
            <a:ext cx="5650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Тема: </a:t>
            </a:r>
            <a:pPr indent="0" marL="0">
              <a:lnSpc>
                <a:spcPct val="102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«От цифры к микромиру: нейросенсорное восприятие биологических данных и статистический анализ (t-критерий Стьюдента / U-критерий Манна — Уитни) в школьной лаборатории „БиоЛаб“»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03504" y="5486400"/>
            <a:ext cx="5650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Направленность: </a:t>
            </a:r>
            <a:pPr indent="0" marL="0">
              <a:lnSpc>
                <a:spcPct val="102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цифровой лаборатории «Радуга», проектов гражданской науки и методов математической статистики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603504" y="7223760"/>
            <a:ext cx="5650992" cy="603504"/>
          </a:xfrm>
          <a:prstGeom prst="roundRect">
            <a:avLst>
              <a:gd name="adj" fmla="val 50000"/>
            </a:avLst>
          </a:prstGeom>
          <a:solidFill>
            <a:srgbClr val="14315E"/>
          </a:solidFill>
          <a:ln/>
        </p:spPr>
      </p:sp>
      <p:sp>
        <p:nvSpPr>
          <p:cNvPr id="13" name="Text 9"/>
          <p:cNvSpPr/>
          <p:nvPr/>
        </p:nvSpPr>
        <p:spPr>
          <a:xfrm>
            <a:off x="694944" y="7223760"/>
            <a:ext cx="5468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t-критерий Стьюдента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603504" y="7936992"/>
            <a:ext cx="5650992" cy="603504"/>
          </a:xfrm>
          <a:prstGeom prst="roundRect">
            <a:avLst>
              <a:gd name="adj" fmla="val 50000"/>
            </a:avLst>
          </a:prstGeom>
          <a:solidFill>
            <a:srgbClr val="2E9B3E"/>
          </a:solidFill>
          <a:ln/>
        </p:spPr>
      </p:sp>
      <p:sp>
        <p:nvSpPr>
          <p:cNvPr id="15" name="Text 11"/>
          <p:cNvSpPr/>
          <p:nvPr/>
        </p:nvSpPr>
        <p:spPr>
          <a:xfrm>
            <a:off x="694944" y="7936992"/>
            <a:ext cx="5468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U-критерий Манна — Уитни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603504" y="8650224"/>
            <a:ext cx="5650992" cy="603504"/>
          </a:xfrm>
          <a:prstGeom prst="roundRect">
            <a:avLst>
              <a:gd name="adj" fmla="val 50000"/>
            </a:avLst>
          </a:prstGeom>
          <a:solidFill>
            <a:srgbClr val="14315E"/>
          </a:solidFill>
          <a:ln/>
        </p:spPr>
      </p:sp>
      <p:sp>
        <p:nvSpPr>
          <p:cNvPr id="17" name="Text 13"/>
          <p:cNvSpPr/>
          <p:nvPr/>
        </p:nvSpPr>
        <p:spPr>
          <a:xfrm>
            <a:off x="694944" y="8650224"/>
            <a:ext cx="5468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Цифровая лаборатория «Радуга»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603504" y="9363456"/>
            <a:ext cx="5650992" cy="603504"/>
          </a:xfrm>
          <a:prstGeom prst="roundRect">
            <a:avLst>
              <a:gd name="adj" fmla="val 50000"/>
            </a:avLst>
          </a:prstGeom>
          <a:solidFill>
            <a:srgbClr val="2E9B3E"/>
          </a:solidFill>
          <a:ln/>
        </p:spPr>
      </p:sp>
      <p:sp>
        <p:nvSpPr>
          <p:cNvPr id="19" name="Text 15"/>
          <p:cNvSpPr/>
          <p:nvPr/>
        </p:nvSpPr>
        <p:spPr>
          <a:xfrm>
            <a:off x="694944" y="9363456"/>
            <a:ext cx="5468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Проекты гражданской науки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603504" y="10149840"/>
            <a:ext cx="5650992" cy="868680"/>
          </a:xfrm>
          <a:prstGeom prst="roundRect">
            <a:avLst>
              <a:gd name="adj" fmla="val 14737"/>
            </a:avLst>
          </a:prstGeom>
          <a:solidFill>
            <a:srgbClr val="F3FAEE"/>
          </a:solidFill>
          <a:ln w="19050">
            <a:solidFill>
              <a:srgbClr val="2E9B3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3232" y="10149840"/>
            <a:ext cx="5431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000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Доказательный анализ результатов прямо в школьной лаборатории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4048" y="274320"/>
            <a:ext cx="6089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Общие выводы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384048" y="1463040"/>
            <a:ext cx="6089904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585216" y="1664208"/>
            <a:ext cx="585216" cy="585216"/>
          </a:xfrm>
          <a:prstGeom prst="ellipse">
            <a:avLst/>
          </a:prstGeom>
          <a:solidFill>
            <a:srgbClr val="2E9B3E"/>
          </a:solidFill>
          <a:ln/>
        </p:spPr>
      </p:sp>
      <p:sp>
        <p:nvSpPr>
          <p:cNvPr id="7" name="Text 3"/>
          <p:cNvSpPr/>
          <p:nvPr/>
        </p:nvSpPr>
        <p:spPr>
          <a:xfrm>
            <a:off x="585216" y="16642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316736" y="1645920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Эффективность проектных лифтов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03504" y="2468880"/>
            <a:ext cx="56509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успешное участие в конкурсах уровня «Большой Перемены» служит мощным стартовым фундаментом для создания инновационной инфраструктуры внутри обычной школы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384048" y="4754880"/>
            <a:ext cx="6089904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85216" y="4956048"/>
            <a:ext cx="585216" cy="585216"/>
          </a:xfrm>
          <a:prstGeom prst="ellipse">
            <a:avLst/>
          </a:prstGeom>
          <a:solidFill>
            <a:srgbClr val="2E9B3E"/>
          </a:solidFill>
          <a:ln/>
        </p:spPr>
      </p:sp>
      <p:sp>
        <p:nvSpPr>
          <p:cNvPr id="12" name="Text 8"/>
          <p:cNvSpPr/>
          <p:nvPr/>
        </p:nvSpPr>
        <p:spPr>
          <a:xfrm>
            <a:off x="585216" y="4956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1316736" y="4937760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Переход к доказательной науке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03504" y="5760720"/>
            <a:ext cx="56509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использование цифровых лабораторий переводит уроки биологии в плоскость доказательной науки, наглядно визуализируя скрытые физиологические процессы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384048" y="8046720"/>
            <a:ext cx="6089904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5216" y="8247888"/>
            <a:ext cx="585216" cy="585216"/>
          </a:xfrm>
          <a:prstGeom prst="ellipse">
            <a:avLst/>
          </a:prstGeom>
          <a:solidFill>
            <a:srgbClr val="2E9B3E"/>
          </a:solidFill>
          <a:ln/>
        </p:spPr>
      </p:sp>
      <p:sp>
        <p:nvSpPr>
          <p:cNvPr id="17" name="Text 13"/>
          <p:cNvSpPr/>
          <p:nvPr/>
        </p:nvSpPr>
        <p:spPr>
          <a:xfrm>
            <a:off x="585216" y="8247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1316736" y="8229600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dirty="0">
                <a:solidFill>
                  <a:srgbClr val="1E7A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Метапредметный результат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03504" y="9052560"/>
            <a:ext cx="56509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 с нейролабораторией эффективно формирует у школьников устойчивые hard и soft skills, стирая границы между школьным экспериментом и будущей профессией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ackgrounds_mobile/bg_c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" y="1280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315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" y="128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1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700" dirty="0"/>
          </a:p>
        </p:txBody>
      </p:sp>
      <p:pic>
        <p:nvPicPr>
          <p:cNvPr id="6" name="Image 1" descr="/tmp/claude-0/-home-user-SmartTVControl/c7267815-9774-5a8b-9a9f-04286a1d8dd3/scratchpad/project/out/prepared/v2/s11_docs_fan_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926080"/>
            <a:ext cx="6217920" cy="29794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84048" y="603504"/>
            <a:ext cx="6089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Общие выводы</a:t>
            </a:r>
            <a:endParaRPr lang="en-US" sz="3600" dirty="0"/>
          </a:p>
        </p:txBody>
      </p:sp>
      <p:sp>
        <p:nvSpPr>
          <p:cNvPr id="8" name="Shape 3"/>
          <p:cNvSpPr/>
          <p:nvPr/>
        </p:nvSpPr>
        <p:spPr>
          <a:xfrm>
            <a:off x="384048" y="1737360"/>
            <a:ext cx="6089904" cy="2651760"/>
          </a:xfrm>
          <a:prstGeom prst="roundRect">
            <a:avLst>
              <a:gd name="adj" fmla="val 4828"/>
            </a:avLst>
          </a:prstGeom>
          <a:solidFill>
            <a:srgbClr val="2E9B3E"/>
          </a:solidFill>
          <a:ln w="19050">
            <a:solidFill>
              <a:srgbClr val="2E9B3E"/>
            </a:solidFill>
            <a:prstDash val="solid"/>
          </a:ln>
          <a:effectLst>
            <a:outerShdw sx="100000" sy="100000" kx="0" ky="0" algn="bl" rotWithShape="0" blurRad="114300" dist="25400" dir="5400000">
              <a:srgbClr val="8AA98C">
                <a:alpha val="28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621792" y="1737360"/>
            <a:ext cx="56144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Победа в конкурсе — это не финал, а стартовая точка к новым возможностям!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384048" y="4572000"/>
            <a:ext cx="6089904" cy="4206240"/>
          </a:xfrm>
          <a:prstGeom prst="roundRect">
            <a:avLst>
              <a:gd name="adj" fmla="val 3043"/>
            </a:avLst>
          </a:prstGeom>
          <a:solidFill>
            <a:srgbClr val="14315E"/>
          </a:solidFill>
          <a:ln w="19050">
            <a:solidFill>
              <a:srgbClr val="14315E"/>
            </a:solidFill>
            <a:prstDash val="solid"/>
          </a:ln>
          <a:effectLst>
            <a:outerShdw sx="100000" sy="100000" kx="0" ky="0" algn="bl" rotWithShape="0" blurRad="114300" dist="25400" dir="5400000">
              <a:srgbClr val="0C1E3A">
                <a:alpha val="28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640080" y="457200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Прежде чем сказать вам «Спасибо за внимание!», хочется сказать спасибо администрации школы, коллегам, родителям, ученикам, всем, кто был рядом. Кто вместе с нами радовался нашим достижениям и разделял «горечь поражения». Кто поддерживал, советовал и помогал.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384048" y="9144000"/>
            <a:ext cx="6089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14315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Спасибо за внимание!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МБОУ СОШ №12, Вышневолоцкий муниципальный округ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«Большой Перемены» к нейролаборатории — мобильная версия</dc:title>
  <dc:subject>PptxGenJS Presentation</dc:subject>
  <dc:creator>Еременко А.М.</dc:creator>
  <cp:lastModifiedBy>Еременко А.М.</cp:lastModifiedBy>
  <cp:revision>1</cp:revision>
  <dcterms:created xsi:type="dcterms:W3CDTF">2026-08-24T06:25:40Z</dcterms:created>
  <dcterms:modified xsi:type="dcterms:W3CDTF">2026-08-24T06:25:40Z</dcterms:modified>
</cp:coreProperties>
</file>
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Добрый день, уважаемые коллеги, добрый день руководство нашего Вышневолоцкого муниципального округа и представители Управления образования, гости нашей августовской конференции! Тема моего выступления посвящена тому, как интеграция конкурсного движения, научных исследований и передовых цифровых технологий способна стать мощным фундаментом для модернизации образовательного пространства школы, развития междисциплинарных связей и непрерывного роста как учеников, так и самого педагога-наставника. Думаю, что данная тема достаточно актуальна в настоящее время, так как современное биологическое образование требует перехода от пассивного усвоения теоретических знаний к активной практической исследовательской деятельности и освоению высоких технологий. Поэтому в условиях развития инновационных технологий в школе, ключевой задачей педагога становится создание образовательной среды, связывающей проектные инициативы учеников с реальной наукой.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Проектная часть экосистемы конкурса «Большая Перемена» включает 14 уникальных «Вызовов». Наша школа активно включена в это движение с самого первого сезона - с марта 2020 года. За это время ключевыми и самыми результативными для нас стали три вызова: «Сохраняй природу!», «Твори!» и «Открывай новое!». Именно на стыке экологии, творчества и передовых научных открытий строится проектная логика наших тандемов ученик + наставник в командных треках. Важнейшей частью конкурса является выход ребят на уникальные встречи, где спикерами являются первые лица государства, космонавты, олимпийские чемпионы, деятели искусства и представители крупнейших госкорпораций, таких как Росатом, Роскосмос и Сбер. Это позволяет школьникам эффективно осваивать ключевые технологии 4К: креативность, коммуникабельность, критическое мышление и кооперация.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Конкурсное движение в «Большой Перемене «на базе нашей школы, послужило для меня и моих наставляемых эффективным проектным лифтом, и на этом слайде можно проследить победную хронологию учеников школы. Наш первый победитель и миллионер - Ванесса Жилкина, одержавшая победу в 2020 году. Затем Александр Гриченко удерживал планку первенства два года подряд - в 2021 и 2022 годах. Но абсолютно феноменальный результат продемонстрировала Алёна Жукова! Она является дважды призером конкурса в 2023 и 2025 годах, а в 2024 году завоевала статус Лауреата 1 степени и стала Абсолютным победителем «Большой Перемены»! Каждый из этих успехов - не просто дипломы. Это реальные кейсы, которые профессионально развивали меня как наставника, формировали у детей базовые hard и soft skills (жесткие и гибкие навыки).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Многократные победы наших ребят во Всероссийском конкурсе «Большая Перемена» вдохновили не только победителей, призеров и меня, как их наставника- они заставили и других учеников школы поверить в то, что невозможное возможно. Эти успехи подарили нам уверенность в своих силах- появилось желание участвовать в других значимых конкурсах на всероссийском и федеральном уровне.
Осенью 2022 года наша школа договаривается о партнерстве ФГАОУ ВО «Новосибирский национальный исследовательский государственный университет» и мы с ребятами вступаем в исследовательскую программу Института химической биологии и фундаментальной медицины  г. Новосибирск ( ИХБФМ СО РАН) «Всероссийский атлас почвенных микроорганизмов, как основа для поиска новых противомикробных продуцентов и ферментов с уникальными свойствами
Получив от партнеров передовую технологическую базу (уникальные исследовательские наборы, цифровые инструменты и платформы, образовательные ресурсы школа переводит исследовательскую работу учащихся в плоскость доказательной науки. За годы совместной работы с новосибирскими учеными в проекте с 2022 года по 2024 год более 30 учеников нашей школы стали научными волонтерами, гражданскими учеными и соавторами Всероссийского атласа почвенных микроорганизмов.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Перед вами - ключевые участники наших исследовательских, технологических и эколого-просветительских проектов. Алёна Жукова -абсолютный победитель, лауреат I степени и двукратный призер Всероссийского конкурса «Большая Перемена», победитель регионального трека Всероссийского конкурса «Большие Вызовы» (направление «Агропромышленные и биотехнологии», 2022–2023 гг., тема: «Скрининг азотфиксирующих бактерий на способность к стимулированию роста растений»). Её работа внесла вклад в поиск эффективных микробиологических удобрений для сельского хозяйства. Также Алёна-финалист конкурса «Экопоколение», амбассадор юннатского движения Тверской области и неоднократный победитель Всероссийской метапредметной научно-практической конференции в пгт Базарный Карабулак Саратовской области. В ходе проектов она вела культивирование азотфиксирующих бактерий рода Azotobacter. Ульяна Коляскина -призер Всероссийской метапредметной научно-практической конференции в пгт Базарный Карабулак Саратовской области и призер регионального трека Всероссийского конкурса «Большие Вызовы» (направление «Агропромышленные и биотехнологии», 2023-2024 гг., тема: «Поиск продуцентов природных антибиотиков в разных типах экосистем»). Исследование посвящено одной из самых актуальных проблем современной науки - поиску новых штаммов для борьбы с устойчивыми патогенами. Ульяна занималась поиском природных антибиотиков и культивированием штаммов Streptomyces.
Ярким примером технологического лидерства стала Софья Петрова - финалист Всероссийского конкурса «Большая Перемена» (2022 г.), а также победитель регионального трека Всероссийского конкурса «АгроНТИ-2022» в сложнейшем направлении «АгроРоботы». Уникальность этого кейса в том, что Софья до конкурса вообще не держала джойстик в руках! Мы учились управлению роботами с нуля по видеоурокам, используя конструктор LEGO.
Вероника Елизарова — абсолютный победитель регионального этапа Всероссийского конкурса презентаций «Многоликая Россия» (2026 г.) в номинации «Дальневосточный федеральный округ» с конкурсной презентацией «Тункинский национальный парк».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«Уважаемые коллеги, масштабные вызовы, которые принимали мои ученики, требовали соответствующего уровня и от меня как от наставника. Невозможно вести детей в плоскость доказательной науки и приводить их к федеральным победам, оставаясь в рамках стандартного школьного учебника. Каждый проект - от микробиологических исследований в "Атласе почвенных микроорганизмов" РАН до управления агророботами в "АгроНТИ"- становился точкой моего собственного профессионального роста и глубокого самообразования. Моя личная траектория наставничества нашла признание на всех уровнях профессионального сообщества, в том числе на самом высоком государственном уровне. Четырежды - в 2020, 2021, 2022 и 2024 годах - мой труд, профессионализм и мастерство в подготовке финалистов и победителей Всероссийского конкурса "Большая Перемена" были отмечены официальными благодарностями Первого заместителя Руководителя Администрации Президента Российской Федерации Сергея Владиленовича Кириенко.  Чтобы координировать сложнейшие исследования девочек по скринингу почв и поиску природных антибиотиков, я совместно с учеными Новосибирского государственного университета и институтов РАН осваивала передовые академические методики, выходя далеко за рамки классической школьной биологии. Мой профессиональный путь подкреплялся регулярным обучением на ведущих федеральных образовательных программах, включая прохождение специализированных программ повышения квалификации в качестве педагога-наставника победителей "Большой Перемены" на базе Международного детского центра "Артек", где собираются лучшие педагогические кадры страны. Развивая таланты, я развиваюсь сама, подтверждая главный принцип современной педагогики: учитель лишь до тех пор учитель, пока он сам учится».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Идея создания научной лаборатории в кабинете в кабинете биологии для формирования экологически ответственного поведения и развития научной деятельности среди школьников возникала неоднократно, когда ученики выполняли научно-исследовательские проекты. Ребята участвовали в различных экологических конкурсах для получения гранта на открытие школьной лаборатории
Катализатор- начало открытия
Гриченко Александр, став победителем всероссийского конкурса «Большая Перемена» получает премию и в 2022 году передает в дар современный, световой микроскоп - это стало отправной точкой на пути к открытию школьной лаборатории.
Предложение проекта и первый этап
29 ноября 2024 года Жукова Алена, Бондаренко София на школьном этапе конкурса «Проект школьных инициатив» предоставили проект «Научная лаборатория БиоЛаб» и по результатам голосования прошли на муниципальный этап конкурса.
Результат и успешная защита
На муниципальном этапе конкурса при поддержке заместителя директора по ВР Папиной А.Н., заместителя директора по ИКТ Кулагина Артура Александровича, Жукова Алена и Ланцев Никита успешно защищают проект и в школе в кабинете биологии появляется экологическое пространство с учебно- исследовательской лабораторией биосигналов и нейротехнологий.
И здесь я хочу сказать слова благодарности: заместителю директора по воспитательной работе Анне Николаевне Папиной и заместителю директора по ИКТ Артуру Александровичу Кулагину. Без их реальной поддержки, без их помощи эта мечта так и осталась бы просто мечтой. Спасибо вам, что помогли детям воплотить её в жизнь!»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 данном слайде вы видите команду наших исследователей, состоящую из учеников 10 класса и 5 класса. Здесь очень важна преемственность поколений. В нашей лаборатории выстраивается процесс, когда старшие, более опытные ученики постепенно становятся наставниками для младших ребят, передавая им свои знания и навыки проектной работы».
(данная информация не читается, расположена на слайде)
Команда:
Наставник Еременко Анна Михайловна
Исследователи ученики 10 класса: Владимирова Диана, Видонов Артем, Гужов Алексей, Елизарова Вероника, Иванова Диана, Малышева Анастасия, Рощин Алексей, Татушенко Егор, Тропников Иван
Ассистенты проекта ученицы 5 б класса Виноградова Алиса, Радаева София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 данном слайде представлены наши первые практические шаги — два эксперимента по кардиографии. В эксперименте „От сердца к цифре“ нашей целью было не просто увидеть пульс, а освоить методику регистрации биосигналов и перевести электрические импульсы кожи в точные цифровые данные. Нам удалось успешно освоить технику первого отведения и настройки фильтрации. Во втором эксперименте мы исследовали адаптацию сердца к нагрузкам. Цифровая лаборатория наглядно визуализировала динамическую адаптацию и восстановительную способность живого организма, подтвердив гипотезу о сокращении кардиоинтервала при активности. Я предлагаю вам посмотреть короткий видеофрагмент, где ребята сами подробно показывают весь ход эксперимента№2 и свои расчеты.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наступающем учебном году в нашей школьной лаборатории мы планируем развивать два перспективных научно-исследовательских вектора, которые объединят учеников разных возрастов:
Вектор классической биологии (5–7 классы) Тема: Экспериментальное исследование факторов успешной вегетативной репродукции лимонов сортов „Лунарио“ и „Павловский“ с изучением их морфометрических признаков.
Второй вектор - это Data Science и биомедицина для старшеклассников 9–11 классов. Здесь мы выходим на серьезный академический уровень. Проект направлен на нейросенсорное восприятие биологических данных с интеграцией цифровой лаборатории „Радуга“ и проектов гражданской науки. Главная особенность — применение методов математической статистики, включая t-критерий Стьюдента и U-критерий Манна -Уитни, для доказательного анализа результатов прямо в школьной лаборатории».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«Уважаемые коллеги, завершая свое выступление, я хочу подвести итог и выделить три главных вывода нашей многолетней системной работы в школе (и вы их видите на слайде):
1. Эффективность проектных лифтов: Успешное участие в конкурсах уровня «Большой перемены» служит мощным стартовым фундаментом для создания инновационной инфраструктуры внутри обычной школы.
2. Использование цифровых лабораторий переводит уроки биологии в плоскость доказательной науки, наглядно визуализируя скрытые физиологические процессы и подтверждая выдвинутые гипотезы точными вычислениями.
3.Метапредметный результат: Работа с нейролабораторией эффективно формирует у школьников устойчивые hard и soft skills, стирая границы между школьным экспериментом и будущей высокотехнологичной профессией.
Победа в конкурсе — это не финал, а стартовая точка к новым возможностям!
Прежде чем сказать вам «Спасибо за внимание!», хочется сказать спасибо администрации школы, коллегам, родителям, ученикам и всем, кто был рядом. Кто вместе с нами радовался нашим достижениям и разделял «горечь поражения». Кто поддерживал, советовал и помогал. Спасибо за внимание!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martTVControl/c7267815-9774-5a8b-9a9f-04286a1d8dd3/scratchpad/project/out/prepared/backgrounds/bg_a_tit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1" descr="/tmp/claude-0/-home-user-SmartTVControl/c7267815-9774-5a8b-9a9f-04286a1d8dd3/scratchpad/project/out/prepared/slides1-4/s1_logo_b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" y="155448"/>
            <a:ext cx="1417320" cy="697758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2011680" y="173736"/>
            <a:ext cx="9750247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875">
            <a:solidFill>
              <a:srgbClr val="1B3C8C"/>
            </a:solidFill>
            <a:prstDash val="solid"/>
          </a:ln>
          <a:effectLst>
            <a:outerShdw sx="100000" sy="100000" kx="0" ky="0" algn="bl" rotWithShape="0" blurRad="114300" dist="25400" dir="5400000">
              <a:srgbClr val="8FA3C4">
                <a:alpha val="28000"/>
              </a:srgbClr>
            </a:outerShdw>
          </a:effectLst>
        </p:spPr>
      </p:sp>
      <p:sp>
        <p:nvSpPr>
          <p:cNvPr id="6" name="Text 1"/>
          <p:cNvSpPr/>
          <p:nvPr/>
        </p:nvSpPr>
        <p:spPr>
          <a:xfrm>
            <a:off x="2148840" y="219456"/>
            <a:ext cx="94731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1500" b="1" dirty="0">
                <a:solidFill>
                  <a:srgbClr val="1B3C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Муниципальное бюджетное общеобразовательное учреждение средняя общеобразовательная школа №12</a:t>
            </a:r>
            <a:endParaRPr lang="en-US" sz="1500" dirty="0"/>
          </a:p>
        </p:txBody>
      </p:sp>
      <p:sp>
        <p:nvSpPr>
          <p:cNvPr id="7" name="Text 2"/>
          <p:cNvSpPr/>
          <p:nvPr/>
        </p:nvSpPr>
        <p:spPr>
          <a:xfrm>
            <a:off x="429768" y="914400"/>
            <a:ext cx="11332159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4000" dirty="0">
                <a:solidFill>
                  <a:srgbClr val="1B3C8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От „Большой Перемены“</a:t>
            </a:r>
            <a:endParaRPr lang="en-US" sz="400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4000" dirty="0">
                <a:solidFill>
                  <a:srgbClr val="1B3C8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к нейролаборатории</a:t>
            </a:r>
            <a:endParaRPr lang="en-US" sz="4000" dirty="0"/>
          </a:p>
        </p:txBody>
      </p:sp>
      <p:sp>
        <p:nvSpPr>
          <p:cNvPr id="8" name="Shape 3"/>
          <p:cNvSpPr/>
          <p:nvPr/>
        </p:nvSpPr>
        <p:spPr>
          <a:xfrm>
            <a:off x="429768" y="2340864"/>
            <a:ext cx="6583680" cy="2487168"/>
          </a:xfrm>
          <a:prstGeom prst="roundRect">
            <a:avLst>
              <a:gd name="adj" fmla="val 4412"/>
            </a:avLst>
          </a:prstGeom>
          <a:solidFill>
            <a:srgbClr val="8C1D3F"/>
          </a:solidFill>
          <a:ln w="19050">
            <a:solidFill>
              <a:srgbClr val="8C1D3F"/>
            </a:solidFill>
            <a:prstDash val="solid"/>
          </a:ln>
          <a:effectLst>
            <a:outerShdw sx="100000" sy="100000" kx="0" ky="0" algn="bl" rotWithShape="0" blurRad="114300" dist="25400" dir="5400000">
              <a:srgbClr val="6E1732">
                <a:alpha val="28000"/>
              </a:srgbClr>
            </a:outerShdw>
          </a:effectLst>
        </p:spPr>
      </p:sp>
      <p:sp>
        <p:nvSpPr>
          <p:cNvPr id="9" name="Text 4"/>
          <p:cNvSpPr/>
          <p:nvPr/>
        </p:nvSpPr>
        <p:spPr>
          <a:xfrm>
            <a:off x="649224" y="2432304"/>
            <a:ext cx="61447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Эффективные практики в решении метапредметных задач: от теории к практике. Как школьные инициативы трансформируются в высокотехнологичную образовательную среду</a:t>
            </a:r>
            <a:endParaRPr lang="en-US" sz="1700" dirty="0"/>
          </a:p>
        </p:txBody>
      </p:sp>
      <p:sp>
        <p:nvSpPr>
          <p:cNvPr id="10" name="Shape 5"/>
          <p:cNvSpPr/>
          <p:nvPr/>
        </p:nvSpPr>
        <p:spPr>
          <a:xfrm>
            <a:off x="649224" y="3511296"/>
            <a:ext cx="6144768" cy="384048"/>
          </a:xfrm>
          <a:prstGeom prst="roundRect">
            <a:avLst>
              <a:gd name="adj" fmla="val 50000"/>
            </a:avLst>
          </a:prstGeom>
          <a:solidFill>
            <a:srgbClr val="8C1D3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722376" y="3511296"/>
            <a:ext cx="5998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«Большая Перемена» — с марта 2020 года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649224" y="3931920"/>
            <a:ext cx="6144768" cy="384048"/>
          </a:xfrm>
          <a:prstGeom prst="roundRect">
            <a:avLst>
              <a:gd name="adj" fmla="val 50000"/>
            </a:avLst>
          </a:prstGeom>
          <a:solidFill>
            <a:srgbClr val="8C1D3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722376" y="3931920"/>
            <a:ext cx="5998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«Всероссийский атлас почвенных микроорганизмов»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649224" y="4352544"/>
            <a:ext cx="6144768" cy="384048"/>
          </a:xfrm>
          <a:prstGeom prst="roundRect">
            <a:avLst>
              <a:gd name="adj" fmla="val 50000"/>
            </a:avLst>
          </a:prstGeom>
          <a:solidFill>
            <a:srgbClr val="8C1D3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722376" y="4352544"/>
            <a:ext cx="5998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«БиоЛаб» — биосигналы и нейротехнологии</a:t>
            </a:r>
            <a:endParaRPr lang="en-US" sz="1500" dirty="0"/>
          </a:p>
        </p:txBody>
      </p:sp>
      <p:pic>
        <p:nvPicPr>
          <p:cNvPr id="16" name="Image 2" descr="/tmp/claude-0/-home-user-SmartTVControl/c7267815-9774-5a8b-9a9f-04286a1d8dd3/scratchpad/project/out/prepared/v2r/s1_schoo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2340864"/>
            <a:ext cx="4492447" cy="2486594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7269480" y="4937760"/>
            <a:ext cx="4492447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1B3C8C"/>
            </a:solidFill>
            <a:prstDash val="solid"/>
          </a:ln>
          <a:effectLst>
            <a:outerShdw sx="100000" sy="100000" kx="0" ky="0" algn="bl" rotWithShape="0" blurRad="114300" dist="25400" dir="5400000">
              <a:srgbClr val="8FA3C4">
                <a:alpha val="28000"/>
              </a:srgbClr>
            </a:outerShdw>
          </a:effectLst>
        </p:spPr>
      </p:sp>
      <p:sp>
        <p:nvSpPr>
          <p:cNvPr id="18" name="Text 12"/>
          <p:cNvSpPr/>
          <p:nvPr/>
        </p:nvSpPr>
        <p:spPr>
          <a:xfrm>
            <a:off x="7406640" y="4937760"/>
            <a:ext cx="42153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1B3C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Еременко А.М., учитель биологии МБОУ СОШ №12</a:t>
            </a:r>
            <a:endParaRPr lang="en-US" sz="1700" dirty="0"/>
          </a:p>
        </p:txBody>
      </p:sp>
      <p:sp>
        <p:nvSpPr>
          <p:cNvPr id="19" name="Shape 13"/>
          <p:cNvSpPr/>
          <p:nvPr/>
        </p:nvSpPr>
        <p:spPr>
          <a:xfrm>
            <a:off x="2286000" y="5742432"/>
            <a:ext cx="7616952" cy="676656"/>
          </a:xfrm>
          <a:prstGeom prst="roundRect">
            <a:avLst>
              <a:gd name="adj" fmla="val 50000"/>
            </a:avLst>
          </a:prstGeom>
          <a:solidFill>
            <a:srgbClr val="1B3C8C"/>
          </a:solidFill>
          <a:ln/>
        </p:spPr>
      </p:sp>
      <p:sp>
        <p:nvSpPr>
          <p:cNvPr id="20" name="Text 14"/>
          <p:cNvSpPr/>
          <p:nvPr/>
        </p:nvSpPr>
        <p:spPr>
          <a:xfrm>
            <a:off x="2359152" y="5742432"/>
            <a:ext cx="74706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Вышневолоцкий муниципальный округ, 2026 год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martTVControl/c7267815-9774-5a8b-9a9f-04286a1d8dd3/scratchpad/project/out/prepared/backgrounds/bg_a_pl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29768" y="164592"/>
            <a:ext cx="11332159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rgbClr val="1B3C8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Экосистема конкурса «Большая Перемена»</a:t>
            </a:r>
            <a:endParaRPr lang="en-US" sz="3600" dirty="0"/>
          </a:p>
        </p:txBody>
      </p:sp>
      <p:sp>
        <p:nvSpPr>
          <p:cNvPr id="5" name="Shape 1"/>
          <p:cNvSpPr/>
          <p:nvPr/>
        </p:nvSpPr>
        <p:spPr>
          <a:xfrm>
            <a:off x="429768" y="1115568"/>
            <a:ext cx="3594506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9050">
            <a:solidFill>
              <a:srgbClr val="1B3C8C"/>
            </a:solidFill>
            <a:prstDash val="solid"/>
          </a:ln>
          <a:effectLst>
            <a:outerShdw sx="100000" sy="100000" kx="0" ky="0" algn="bl" rotWithShape="0" blurRad="114300" dist="25400" dir="5400000">
              <a:srgbClr val="8FA3C4">
                <a:alpha val="28000"/>
              </a:srgbClr>
            </a:outerShdw>
          </a:effectLst>
        </p:spPr>
      </p:sp>
      <p:sp>
        <p:nvSpPr>
          <p:cNvPr id="6" name="Text 2"/>
          <p:cNvSpPr/>
          <p:nvPr/>
        </p:nvSpPr>
        <p:spPr>
          <a:xfrm>
            <a:off x="576072" y="1115568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dirty="0">
                <a:solidFill>
                  <a:srgbClr val="8C1D3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14</a:t>
            </a:r>
            <a:endParaRPr lang="en-US" sz="3800" dirty="0"/>
          </a:p>
        </p:txBody>
      </p:sp>
      <p:sp>
        <p:nvSpPr>
          <p:cNvPr id="7" name="Text 3"/>
          <p:cNvSpPr/>
          <p:nvPr/>
        </p:nvSpPr>
        <p:spPr>
          <a:xfrm>
            <a:off x="2075688" y="1115568"/>
            <a:ext cx="180228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600" b="1" dirty="0">
                <a:solidFill>
                  <a:srgbClr val="1B3C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уникальных «Вызовов»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4298594" y="1115568"/>
            <a:ext cx="3594506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9050">
            <a:solidFill>
              <a:srgbClr val="1B3C8C"/>
            </a:solidFill>
            <a:prstDash val="solid"/>
          </a:ln>
          <a:effectLst>
            <a:outerShdw sx="100000" sy="100000" kx="0" ky="0" algn="bl" rotWithShape="0" blurRad="114300" dist="25400" dir="5400000">
              <a:srgbClr val="8FA3C4">
                <a:alpha val="28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4444898" y="1115568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dirty="0">
                <a:solidFill>
                  <a:srgbClr val="8C1D3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2020</a:t>
            </a:r>
            <a:endParaRPr lang="en-US" sz="3800" dirty="0"/>
          </a:p>
        </p:txBody>
      </p:sp>
      <p:sp>
        <p:nvSpPr>
          <p:cNvPr id="10" name="Text 6"/>
          <p:cNvSpPr/>
          <p:nvPr/>
        </p:nvSpPr>
        <p:spPr>
          <a:xfrm>
            <a:off x="5944514" y="1115568"/>
            <a:ext cx="180228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600" b="1" dirty="0">
                <a:solidFill>
                  <a:srgbClr val="1B3C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 движении с марта 2020 года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8167421" y="1115568"/>
            <a:ext cx="3594506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9050">
            <a:solidFill>
              <a:srgbClr val="1B3C8C"/>
            </a:solidFill>
            <a:prstDash val="solid"/>
          </a:ln>
          <a:effectLst>
            <a:outerShdw sx="100000" sy="100000" kx="0" ky="0" algn="bl" rotWithShape="0" blurRad="114300" dist="25400" dir="5400000">
              <a:srgbClr val="8FA3C4">
                <a:alpha val="28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8313725" y="1115568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dirty="0">
                <a:solidFill>
                  <a:srgbClr val="8C1D3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7</a:t>
            </a:r>
            <a:endParaRPr lang="en-US" sz="3800" dirty="0"/>
          </a:p>
        </p:txBody>
      </p:sp>
      <p:sp>
        <p:nvSpPr>
          <p:cNvPr id="13" name="Text 9"/>
          <p:cNvSpPr/>
          <p:nvPr/>
        </p:nvSpPr>
        <p:spPr>
          <a:xfrm>
            <a:off x="9813341" y="1115568"/>
            <a:ext cx="180228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600" b="1" dirty="0">
                <a:solidFill>
                  <a:srgbClr val="1B3C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сезон конкурса идёт сейчас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429768" y="2286000"/>
            <a:ext cx="11332159" cy="914400"/>
          </a:xfrm>
          <a:prstGeom prst="roundRect">
            <a:avLst>
              <a:gd name="adj" fmla="val 12000"/>
            </a:avLst>
          </a:prstGeom>
          <a:solidFill>
            <a:srgbClr val="8C1D3F"/>
          </a:solidFill>
          <a:ln w="19050">
            <a:solidFill>
              <a:srgbClr val="8C1D3F"/>
            </a:solidFill>
            <a:prstDash val="solid"/>
          </a:ln>
          <a:effectLst>
            <a:outerShdw sx="100000" sy="100000" kx="0" ky="0" algn="bl" rotWithShape="0" blurRad="114300" dist="25400" dir="5400000">
              <a:srgbClr val="6E1732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9224" y="245059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2"/>
          <p:cNvSpPr/>
          <p:nvPr/>
        </p:nvSpPr>
        <p:spPr>
          <a:xfrm>
            <a:off x="649224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8C1D3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1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1362456" y="2395728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«Сохраняй природу!»</a:t>
            </a:r>
            <a:endParaRPr lang="en-US" sz="2600" dirty="0"/>
          </a:p>
        </p:txBody>
      </p:sp>
      <p:sp>
        <p:nvSpPr>
          <p:cNvPr id="18" name="Text 14"/>
          <p:cNvSpPr/>
          <p:nvPr/>
        </p:nvSpPr>
        <p:spPr>
          <a:xfrm>
            <a:off x="5413248" y="2395728"/>
            <a:ext cx="60743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экология, природоохранные и исследовательские проекты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429768" y="3291840"/>
            <a:ext cx="11332159" cy="914400"/>
          </a:xfrm>
          <a:prstGeom prst="roundRect">
            <a:avLst>
              <a:gd name="adj" fmla="val 12000"/>
            </a:avLst>
          </a:prstGeom>
          <a:solidFill>
            <a:srgbClr val="8C1D3F"/>
          </a:solidFill>
          <a:ln w="19050">
            <a:solidFill>
              <a:srgbClr val="8C1D3F"/>
            </a:solidFill>
            <a:prstDash val="solid"/>
          </a:ln>
          <a:effectLst>
            <a:outerShdw sx="100000" sy="100000" kx="0" ky="0" algn="bl" rotWithShape="0" blurRad="114300" dist="25400" dir="5400000">
              <a:srgbClr val="6E1732">
                <a:alpha val="2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9224" y="345643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Text 17"/>
          <p:cNvSpPr/>
          <p:nvPr/>
        </p:nvSpPr>
        <p:spPr>
          <a:xfrm>
            <a:off x="649224" y="34564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8C1D3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2</a:t>
            </a:r>
            <a:endParaRPr lang="en-US" sz="2000" dirty="0"/>
          </a:p>
        </p:txBody>
      </p:sp>
      <p:sp>
        <p:nvSpPr>
          <p:cNvPr id="22" name="Text 18"/>
          <p:cNvSpPr/>
          <p:nvPr/>
        </p:nvSpPr>
        <p:spPr>
          <a:xfrm>
            <a:off x="1362456" y="3401568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«Твори!»</a:t>
            </a:r>
            <a:endParaRPr lang="en-US" sz="2600" dirty="0"/>
          </a:p>
        </p:txBody>
      </p:sp>
      <p:sp>
        <p:nvSpPr>
          <p:cNvPr id="23" name="Text 19"/>
          <p:cNvSpPr/>
          <p:nvPr/>
        </p:nvSpPr>
        <p:spPr>
          <a:xfrm>
            <a:off x="5413248" y="3401568"/>
            <a:ext cx="60743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творческие треки, презентации и медиапроекты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429768" y="4297680"/>
            <a:ext cx="11332159" cy="914400"/>
          </a:xfrm>
          <a:prstGeom prst="roundRect">
            <a:avLst>
              <a:gd name="adj" fmla="val 12000"/>
            </a:avLst>
          </a:prstGeom>
          <a:solidFill>
            <a:srgbClr val="8C1D3F"/>
          </a:solidFill>
          <a:ln w="19050">
            <a:solidFill>
              <a:srgbClr val="8C1D3F"/>
            </a:solidFill>
            <a:prstDash val="solid"/>
          </a:ln>
          <a:effectLst>
            <a:outerShdw sx="100000" sy="100000" kx="0" ky="0" algn="bl" rotWithShape="0" blurRad="114300" dist="25400" dir="5400000">
              <a:srgbClr val="6E1732">
                <a:alpha val="28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49224" y="446227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Text 22"/>
          <p:cNvSpPr/>
          <p:nvPr/>
        </p:nvSpPr>
        <p:spPr>
          <a:xfrm>
            <a:off x="649224" y="44622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8C1D3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3</a:t>
            </a:r>
            <a:endParaRPr lang="en-US" sz="2000" dirty="0"/>
          </a:p>
        </p:txBody>
      </p:sp>
      <p:sp>
        <p:nvSpPr>
          <p:cNvPr id="27" name="Text 23"/>
          <p:cNvSpPr/>
          <p:nvPr/>
        </p:nvSpPr>
        <p:spPr>
          <a:xfrm>
            <a:off x="1362456" y="4407408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«Открывай новое!»</a:t>
            </a:r>
            <a:endParaRPr lang="en-US" sz="2600" dirty="0"/>
          </a:p>
        </p:txBody>
      </p:sp>
      <p:sp>
        <p:nvSpPr>
          <p:cNvPr id="28" name="Text 24"/>
          <p:cNvSpPr/>
          <p:nvPr/>
        </p:nvSpPr>
        <p:spPr>
          <a:xfrm>
            <a:off x="5413248" y="4407408"/>
            <a:ext cx="60743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наука, технологии и открытия вместе с наставником</a:t>
            </a:r>
            <a:endParaRPr lang="en-US" sz="1600" dirty="0"/>
          </a:p>
        </p:txBody>
      </p:sp>
      <p:sp>
        <p:nvSpPr>
          <p:cNvPr id="29" name="Shape 25"/>
          <p:cNvSpPr/>
          <p:nvPr/>
        </p:nvSpPr>
        <p:spPr>
          <a:xfrm>
            <a:off x="429768" y="5413248"/>
            <a:ext cx="11332159" cy="1014984"/>
          </a:xfrm>
          <a:prstGeom prst="roundRect">
            <a:avLst>
              <a:gd name="adj" fmla="val 10811"/>
            </a:avLst>
          </a:prstGeom>
          <a:solidFill>
            <a:srgbClr val="1B3C8C"/>
          </a:solidFill>
          <a:ln w="19050">
            <a:solidFill>
              <a:srgbClr val="1B3C8C"/>
            </a:solidFill>
            <a:prstDash val="solid"/>
          </a:ln>
          <a:effectLst>
            <a:outerShdw sx="100000" sy="100000" kx="0" ky="0" algn="bl" rotWithShape="0" blurRad="114300" dist="25400" dir="5400000">
              <a:srgbClr val="12285E">
                <a:alpha val="28000"/>
              </a:srgbClr>
            </a:outerShdw>
          </a:effectLst>
        </p:spPr>
      </p:sp>
      <p:sp>
        <p:nvSpPr>
          <p:cNvPr id="30" name="Text 26"/>
          <p:cNvSpPr/>
          <p:nvPr/>
        </p:nvSpPr>
        <p:spPr>
          <a:xfrm>
            <a:off x="685800" y="5504688"/>
            <a:ext cx="10820095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Встречи с первыми лицами государства, космонавтами, олимпийскими чемпионами · Росатом · Роскосмос · Сбер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Технологии 4К: креативность · коммуникабельность · критическое мышление · кооперация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martTVControl/c7267815-9774-5a8b-9a9f-04286a1d8dd3/scratchpad/project/out/prepared/backgrounds/bg_a_tim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29768" y="201168"/>
            <a:ext cx="1133215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rgbClr val="1B3C8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От кейсовых заданий «Большой Перемены» — к нейролаборатории</a:t>
            </a:r>
            <a:endParaRPr lang="en-US" sz="3600" dirty="0"/>
          </a:p>
        </p:txBody>
      </p:sp>
      <p:sp>
        <p:nvSpPr>
          <p:cNvPr id="5" name="Shape 1"/>
          <p:cNvSpPr/>
          <p:nvPr/>
        </p:nvSpPr>
        <p:spPr>
          <a:xfrm>
            <a:off x="429768" y="1481328"/>
            <a:ext cx="3594506" cy="4946904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 w="19050">
            <a:solidFill>
              <a:srgbClr val="1B3C8C"/>
            </a:solidFill>
            <a:prstDash val="solid"/>
          </a:ln>
          <a:effectLst>
            <a:outerShdw sx="100000" sy="100000" kx="0" ky="0" algn="bl" rotWithShape="0" blurRad="114300" dist="25400" dir="5400000">
              <a:srgbClr val="8FA3C4">
                <a:alpha val="28000"/>
              </a:srgbClr>
            </a:outerShdw>
          </a:effectLst>
        </p:spPr>
      </p:sp>
      <p:pic>
        <p:nvPicPr>
          <p:cNvPr id="6" name="Image 1" descr="/tmp/claude-0/-home-user-SmartTVControl/c7267815-9774-5a8b-9a9f-04286a1d8dd3/scratchpad/project/out/prepared/v2r/s3_zhilkin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741" y="1700784"/>
            <a:ext cx="2194560" cy="292608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76072" y="4700016"/>
            <a:ext cx="330189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1B3C8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Ванесса Жилкина</a:t>
            </a:r>
            <a:endParaRPr lang="en-US" sz="2100" dirty="0"/>
          </a:p>
        </p:txBody>
      </p:sp>
      <p:sp>
        <p:nvSpPr>
          <p:cNvPr id="8" name="Shape 3"/>
          <p:cNvSpPr/>
          <p:nvPr/>
        </p:nvSpPr>
        <p:spPr>
          <a:xfrm>
            <a:off x="594360" y="5138928"/>
            <a:ext cx="3265322" cy="749808"/>
          </a:xfrm>
          <a:prstGeom prst="roundRect">
            <a:avLst>
              <a:gd name="adj" fmla="val 14634"/>
            </a:avLst>
          </a:prstGeom>
          <a:solidFill>
            <a:srgbClr val="8C1D3F"/>
          </a:solidFill>
          <a:ln w="19050">
            <a:solidFill>
              <a:srgbClr val="8C1D3F"/>
            </a:solidFill>
            <a:prstDash val="solid"/>
          </a:ln>
          <a:effectLst>
            <a:outerShdw sx="100000" sy="100000" kx="0" ky="0" algn="bl" rotWithShape="0" blurRad="114300" dist="25400" dir="5400000">
              <a:srgbClr val="6E1732">
                <a:alpha val="28000"/>
              </a:srgbClr>
            </a:outerShdw>
          </a:effectLst>
        </p:spPr>
      </p:sp>
      <p:sp>
        <p:nvSpPr>
          <p:cNvPr id="9" name="Text 4"/>
          <p:cNvSpPr/>
          <p:nvPr/>
        </p:nvSpPr>
        <p:spPr>
          <a:xfrm>
            <a:off x="685800" y="5138928"/>
            <a:ext cx="308244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2020 год — Победитель</a:t>
            </a:r>
            <a:endParaRPr lang="en-US" sz="1600" dirty="0"/>
          </a:p>
        </p:txBody>
      </p:sp>
      <p:sp>
        <p:nvSpPr>
          <p:cNvPr id="10" name="Shape 5"/>
          <p:cNvSpPr/>
          <p:nvPr/>
        </p:nvSpPr>
        <p:spPr>
          <a:xfrm>
            <a:off x="594360" y="5943600"/>
            <a:ext cx="3265322" cy="484632"/>
          </a:xfrm>
          <a:prstGeom prst="roundRect">
            <a:avLst>
              <a:gd name="adj" fmla="val 22642"/>
            </a:avLst>
          </a:prstGeom>
          <a:solidFill>
            <a:srgbClr val="F2F5FC"/>
          </a:solidFill>
          <a:ln w="15875">
            <a:solidFill>
              <a:srgbClr val="1B3C8C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667512" y="5943600"/>
            <a:ext cx="311901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1B3C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Первый победитель школы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630936" y="1152144"/>
            <a:ext cx="694944" cy="694944"/>
          </a:xfrm>
          <a:prstGeom prst="ellipse">
            <a:avLst/>
          </a:prstGeom>
          <a:solidFill>
            <a:srgbClr val="8C1D3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630936" y="1152144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2020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4298594" y="1481328"/>
            <a:ext cx="3594506" cy="4946904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 w="19050">
            <a:solidFill>
              <a:srgbClr val="1B3C8C"/>
            </a:solidFill>
            <a:prstDash val="solid"/>
          </a:ln>
          <a:effectLst>
            <a:outerShdw sx="100000" sy="100000" kx="0" ky="0" algn="bl" rotWithShape="0" blurRad="114300" dist="25400" dir="5400000">
              <a:srgbClr val="8FA3C4">
                <a:alpha val="28000"/>
              </a:srgbClr>
            </a:outerShdw>
          </a:effectLst>
        </p:spPr>
      </p:sp>
      <p:pic>
        <p:nvPicPr>
          <p:cNvPr id="15" name="Image 2" descr="/tmp/claude-0/-home-user-SmartTVControl/c7267815-9774-5a8b-9a9f-04286a1d8dd3/scratchpad/project/out/prepared/v2r/s3_grichenk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8568" y="1700784"/>
            <a:ext cx="2194560" cy="292328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444898" y="4700016"/>
            <a:ext cx="330189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1B3C8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Александр Гриченко</a:t>
            </a:r>
            <a:endParaRPr lang="en-US" sz="2100" dirty="0"/>
          </a:p>
        </p:txBody>
      </p:sp>
      <p:sp>
        <p:nvSpPr>
          <p:cNvPr id="17" name="Shape 11"/>
          <p:cNvSpPr/>
          <p:nvPr/>
        </p:nvSpPr>
        <p:spPr>
          <a:xfrm>
            <a:off x="4463186" y="5138928"/>
            <a:ext cx="3265322" cy="749808"/>
          </a:xfrm>
          <a:prstGeom prst="roundRect">
            <a:avLst>
              <a:gd name="adj" fmla="val 14634"/>
            </a:avLst>
          </a:prstGeom>
          <a:solidFill>
            <a:srgbClr val="8C1D3F"/>
          </a:solidFill>
          <a:ln w="19050">
            <a:solidFill>
              <a:srgbClr val="8C1D3F"/>
            </a:solidFill>
            <a:prstDash val="solid"/>
          </a:ln>
          <a:effectLst>
            <a:outerShdw sx="100000" sy="100000" kx="0" ky="0" algn="bl" rotWithShape="0" blurRad="114300" dist="25400" dir="5400000">
              <a:srgbClr val="6E1732">
                <a:alpha val="28000"/>
              </a:srgbClr>
            </a:outerShdw>
          </a:effectLst>
        </p:spPr>
      </p:sp>
      <p:sp>
        <p:nvSpPr>
          <p:cNvPr id="18" name="Text 12"/>
          <p:cNvSpPr/>
          <p:nvPr/>
        </p:nvSpPr>
        <p:spPr>
          <a:xfrm>
            <a:off x="4554626" y="5138928"/>
            <a:ext cx="308244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2021, 2022 год — Победитель</a:t>
            </a: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4463186" y="5943600"/>
            <a:ext cx="3265322" cy="484632"/>
          </a:xfrm>
          <a:prstGeom prst="roundRect">
            <a:avLst>
              <a:gd name="adj" fmla="val 22642"/>
            </a:avLst>
          </a:prstGeom>
          <a:solidFill>
            <a:srgbClr val="F2F5FC"/>
          </a:solidFill>
          <a:ln w="15875">
            <a:solidFill>
              <a:srgbClr val="1B3C8C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4536338" y="5943600"/>
            <a:ext cx="311901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1B3C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Дарит школе световой микроскоп, 2022 год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4499762" y="1152144"/>
            <a:ext cx="694944" cy="694944"/>
          </a:xfrm>
          <a:prstGeom prst="ellipse">
            <a:avLst/>
          </a:prstGeom>
          <a:solidFill>
            <a:srgbClr val="8C1D3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4499762" y="1152144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2021</a:t>
            </a:r>
            <a:endParaRPr lang="en-US" sz="1500" dirty="0"/>
          </a:p>
        </p:txBody>
      </p:sp>
      <p:sp>
        <p:nvSpPr>
          <p:cNvPr id="23" name="Shape 17"/>
          <p:cNvSpPr/>
          <p:nvPr/>
        </p:nvSpPr>
        <p:spPr>
          <a:xfrm>
            <a:off x="8167421" y="1481328"/>
            <a:ext cx="3594506" cy="4946904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 w="19050">
            <a:solidFill>
              <a:srgbClr val="1B3C8C"/>
            </a:solidFill>
            <a:prstDash val="solid"/>
          </a:ln>
          <a:effectLst>
            <a:outerShdw sx="100000" sy="100000" kx="0" ky="0" algn="bl" rotWithShape="0" blurRad="114300" dist="25400" dir="5400000">
              <a:srgbClr val="8FA3C4">
                <a:alpha val="28000"/>
              </a:srgbClr>
            </a:outerShdw>
          </a:effectLst>
        </p:spPr>
      </p:sp>
      <p:pic>
        <p:nvPicPr>
          <p:cNvPr id="24" name="Image 3" descr="/tmp/claude-0/-home-user-SmartTVControl/c7267815-9774-5a8b-9a9f-04286a1d8dd3/scratchpad/project/out/prepared/v2r/s3_zhukov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7394" y="1700784"/>
            <a:ext cx="2194560" cy="292608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313725" y="4700016"/>
            <a:ext cx="330189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1B3C8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Алёна Жукова</a:t>
            </a:r>
            <a:endParaRPr lang="en-US" sz="2100" dirty="0"/>
          </a:p>
        </p:txBody>
      </p:sp>
      <p:sp>
        <p:nvSpPr>
          <p:cNvPr id="26" name="Shape 19"/>
          <p:cNvSpPr/>
          <p:nvPr/>
        </p:nvSpPr>
        <p:spPr>
          <a:xfrm>
            <a:off x="8332013" y="5138928"/>
            <a:ext cx="3265322" cy="749808"/>
          </a:xfrm>
          <a:prstGeom prst="roundRect">
            <a:avLst>
              <a:gd name="adj" fmla="val 14634"/>
            </a:avLst>
          </a:prstGeom>
          <a:solidFill>
            <a:srgbClr val="8C1D3F"/>
          </a:solidFill>
          <a:ln w="19050">
            <a:solidFill>
              <a:srgbClr val="8C1D3F"/>
            </a:solidFill>
            <a:prstDash val="solid"/>
          </a:ln>
          <a:effectLst>
            <a:outerShdw sx="100000" sy="100000" kx="0" ky="0" algn="bl" rotWithShape="0" blurRad="114300" dist="25400" dir="5400000">
              <a:srgbClr val="6E1732">
                <a:alpha val="28000"/>
              </a:srgbClr>
            </a:outerShdw>
          </a:effectLst>
        </p:spPr>
      </p:sp>
      <p:sp>
        <p:nvSpPr>
          <p:cNvPr id="27" name="Text 20"/>
          <p:cNvSpPr/>
          <p:nvPr/>
        </p:nvSpPr>
        <p:spPr>
          <a:xfrm>
            <a:off x="8423453" y="5138928"/>
            <a:ext cx="308244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2024 год — Абсолютный победитель, Лауреат I степени</a:t>
            </a:r>
            <a:endParaRPr lang="en-US" sz="1600" dirty="0"/>
          </a:p>
        </p:txBody>
      </p:sp>
      <p:sp>
        <p:nvSpPr>
          <p:cNvPr id="28" name="Shape 21"/>
          <p:cNvSpPr/>
          <p:nvPr/>
        </p:nvSpPr>
        <p:spPr>
          <a:xfrm>
            <a:off x="8332013" y="5943600"/>
            <a:ext cx="3265322" cy="484632"/>
          </a:xfrm>
          <a:prstGeom prst="roundRect">
            <a:avLst>
              <a:gd name="adj" fmla="val 22642"/>
            </a:avLst>
          </a:prstGeom>
          <a:solidFill>
            <a:srgbClr val="F2F5FC"/>
          </a:solidFill>
          <a:ln w="15875">
            <a:solidFill>
              <a:srgbClr val="1B3C8C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8405165" y="5943600"/>
            <a:ext cx="311901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1B3C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2023, 2025 год — Призёр</a:t>
            </a:r>
            <a:endParaRPr lang="en-US" sz="1400" dirty="0"/>
          </a:p>
        </p:txBody>
      </p:sp>
      <p:sp>
        <p:nvSpPr>
          <p:cNvPr id="30" name="Shape 23"/>
          <p:cNvSpPr/>
          <p:nvPr/>
        </p:nvSpPr>
        <p:spPr>
          <a:xfrm>
            <a:off x="8368589" y="1152144"/>
            <a:ext cx="694944" cy="694944"/>
          </a:xfrm>
          <a:prstGeom prst="ellipse">
            <a:avLst/>
          </a:prstGeom>
          <a:solidFill>
            <a:srgbClr val="8C1D3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8368589" y="1152144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2024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martTVControl/c7267815-9774-5a8b-9a9f-04286a1d8dd3/scratchpad/project/out/prepared/backgrounds/bg_b_mic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29768" y="201168"/>
            <a:ext cx="113321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rgbClr val="06407A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Наука в школе: исследования учеников</a:t>
            </a:r>
            <a:endParaRPr lang="en-US" sz="3600" dirty="0"/>
          </a:p>
        </p:txBody>
      </p:sp>
      <p:sp>
        <p:nvSpPr>
          <p:cNvPr id="5" name="Shape 1"/>
          <p:cNvSpPr/>
          <p:nvPr/>
        </p:nvSpPr>
        <p:spPr>
          <a:xfrm>
            <a:off x="429768" y="896112"/>
            <a:ext cx="2788920" cy="2194560"/>
          </a:xfrm>
          <a:prstGeom prst="roundRect">
            <a:avLst>
              <a:gd name="adj" fmla="val 5000"/>
            </a:avLst>
          </a:prstGeom>
          <a:solidFill>
            <a:srgbClr val="0B69C7"/>
          </a:solidFill>
          <a:ln w="19050">
            <a:solidFill>
              <a:srgbClr val="0B69C7"/>
            </a:solidFill>
            <a:prstDash val="solid"/>
          </a:ln>
          <a:effectLst>
            <a:outerShdw sx="100000" sy="100000" kx="0" ky="0" algn="bl" rotWithShape="0" blurRad="114300" dist="25400" dir="5400000">
              <a:srgbClr val="05365F">
                <a:alpha val="28000"/>
              </a:srgbClr>
            </a:outerShdw>
          </a:effectLst>
        </p:spPr>
      </p:sp>
      <p:sp>
        <p:nvSpPr>
          <p:cNvPr id="6" name="Text 2"/>
          <p:cNvSpPr/>
          <p:nvPr/>
        </p:nvSpPr>
        <p:spPr>
          <a:xfrm>
            <a:off x="594360" y="950976"/>
            <a:ext cx="24597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30+</a:t>
            </a:r>
            <a:endParaRPr lang="en-US" sz="4400" dirty="0"/>
          </a:p>
        </p:txBody>
      </p:sp>
      <p:sp>
        <p:nvSpPr>
          <p:cNvPr id="7" name="Text 3"/>
          <p:cNvSpPr/>
          <p:nvPr/>
        </p:nvSpPr>
        <p:spPr>
          <a:xfrm>
            <a:off x="594360" y="1627632"/>
            <a:ext cx="24597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учеников — научные волонтёры, гражданские учёные и соавторы Атласа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594360" y="2578608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9" name="Text 5"/>
          <p:cNvSpPr/>
          <p:nvPr/>
        </p:nvSpPr>
        <p:spPr>
          <a:xfrm>
            <a:off x="667512" y="2578608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500" b="1" dirty="0">
                <a:solidFill>
                  <a:srgbClr val="0B69C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2022–2024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3493008" y="896112"/>
            <a:ext cx="40690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B69C7"/>
            </a:solidFill>
            <a:prstDash val="solid"/>
          </a:ln>
          <a:effectLst>
            <a:outerShdw sx="100000" sy="100000" kx="0" ky="0" algn="bl" rotWithShape="0" blurRad="114300" dist="25400" dir="5400000">
              <a:srgbClr val="8FA3C4">
                <a:alpha val="28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3657600" y="987552"/>
            <a:ext cx="3739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06407A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Партнёрство и программа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3657600" y="1389888"/>
            <a:ext cx="3739896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600" dirty="0">
                <a:solidFill>
                  <a:srgbClr val="0640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Осенью 2022 года — партнёрство с ФГАОУ ВО «Новосибирский национальный исследовательский государственный университет» и вступление в программу ИХБФМ СО РАН «Всероссийский атлас почвенных микроорганизмов»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7836408" y="896112"/>
            <a:ext cx="3922776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B69C7"/>
            </a:solidFill>
            <a:prstDash val="solid"/>
          </a:ln>
          <a:effectLst>
            <a:outerShdw sx="100000" sy="100000" kx="0" ky="0" algn="bl" rotWithShape="0" blurRad="114300" dist="25400" dir="5400000">
              <a:srgbClr val="8FA3C4">
                <a:alpha val="28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8001000" y="987552"/>
            <a:ext cx="3593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06407A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Технологическая база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8001000" y="1389888"/>
            <a:ext cx="3593592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600" dirty="0">
                <a:solidFill>
                  <a:srgbClr val="0640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Получены исследовательские наборы, цифровые инструменты и образовательные ресурсы. Работа учеников переведена в плоскость доказательной науки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8001000" y="2615184"/>
            <a:ext cx="3593592" cy="365760"/>
          </a:xfrm>
          <a:prstGeom prst="roundRect">
            <a:avLst>
              <a:gd name="adj" fmla="val 50000"/>
            </a:avLst>
          </a:prstGeom>
          <a:solidFill>
            <a:srgbClr val="0B69C7"/>
          </a:solidFill>
          <a:ln/>
        </p:spPr>
      </p:sp>
      <p:sp>
        <p:nvSpPr>
          <p:cNvPr id="17" name="Text 13"/>
          <p:cNvSpPr/>
          <p:nvPr/>
        </p:nvSpPr>
        <p:spPr>
          <a:xfrm>
            <a:off x="8074152" y="2615184"/>
            <a:ext cx="3447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ИХБФМ СО РАН · НГУ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429768" y="3163824"/>
            <a:ext cx="2651760" cy="3264408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5875">
            <a:solidFill>
              <a:srgbClr val="0B69C7"/>
            </a:solidFill>
            <a:prstDash val="solid"/>
          </a:ln>
          <a:effectLst>
            <a:outerShdw sx="100000" sy="100000" kx="0" ky="0" algn="bl" rotWithShape="0" blurRad="114300" dist="25400" dir="5400000">
              <a:srgbClr val="8FA3C4">
                <a:alpha val="28000"/>
              </a:srgbClr>
            </a:outerShdw>
          </a:effectLst>
        </p:spPr>
      </p:sp>
      <p:pic>
        <p:nvPicPr>
          <p:cNvPr id="19" name="Image 1" descr="/tmp/claude-0/-home-user-SmartTVControl/c7267815-9774-5a8b-9a9f-04286a1d8dd3/scratchpad/project/out/prepared/v2r/s4_starter_ki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" y="3236976"/>
            <a:ext cx="2240280" cy="168159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21208" y="4974336"/>
            <a:ext cx="24688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1400" b="1" dirty="0">
                <a:solidFill>
                  <a:srgbClr val="0640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Стартовый набор «Охотники за микробами» и образцы почв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3323234" y="3163824"/>
            <a:ext cx="2651760" cy="3264408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5875">
            <a:solidFill>
              <a:srgbClr val="0B69C7"/>
            </a:solidFill>
            <a:prstDash val="solid"/>
          </a:ln>
          <a:effectLst>
            <a:outerShdw sx="100000" sy="100000" kx="0" ky="0" algn="bl" rotWithShape="0" blurRad="114300" dist="25400" dir="5400000">
              <a:srgbClr val="8FA3C4">
                <a:alpha val="28000"/>
              </a:srgbClr>
            </a:outerShdw>
          </a:effectLst>
        </p:spPr>
      </p:sp>
      <p:pic>
        <p:nvPicPr>
          <p:cNvPr id="22" name="Image 2" descr="/tmp/claude-0/-home-user-SmartTVControl/c7267815-9774-5a8b-9a9f-04286a1d8dd3/scratchpad/project/out/prepared/v2r/s4_diplomy_atla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8974" y="3236976"/>
            <a:ext cx="2240280" cy="168159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3414674" y="4974336"/>
            <a:ext cx="24688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1400" b="1" dirty="0">
                <a:solidFill>
                  <a:srgbClr val="0640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Дипломы наставника Еременко А.М. и соавторов «Всероссийского атласа почвенных микроорганизмов», 2022 год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6216701" y="3163824"/>
            <a:ext cx="2651760" cy="3264408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5875">
            <a:solidFill>
              <a:srgbClr val="0B69C7"/>
            </a:solidFill>
            <a:prstDash val="solid"/>
          </a:ln>
          <a:effectLst>
            <a:outerShdw sx="100000" sy="100000" kx="0" ky="0" algn="bl" rotWithShape="0" blurRad="114300" dist="25400" dir="5400000">
              <a:srgbClr val="8FA3C4">
                <a:alpha val="28000"/>
              </a:srgbClr>
            </a:outerShdw>
          </a:effectLst>
        </p:spPr>
      </p:sp>
      <p:pic>
        <p:nvPicPr>
          <p:cNvPr id="25" name="Image 3" descr="/tmp/claude-0/-home-user-SmartTVControl/c7267815-9774-5a8b-9a9f-04286a1d8dd3/scratchpad/project/out/prepared/v2r/s4_nagrazhdenie_202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2441" y="3236976"/>
            <a:ext cx="2240280" cy="1681593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308141" y="4974336"/>
            <a:ext cx="24688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1400" b="1" dirty="0">
                <a:solidFill>
                  <a:srgbClr val="0640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Награждение гражданских учёных, волонтёров науки, соавторов «Всероссийского атласа почвенных микроорганизмов», 2024 год</a:t>
            </a:r>
            <a:endParaRPr lang="en-US" sz="1400" dirty="0"/>
          </a:p>
        </p:txBody>
      </p:sp>
      <p:sp>
        <p:nvSpPr>
          <p:cNvPr id="27" name="Shape 20"/>
          <p:cNvSpPr/>
          <p:nvPr/>
        </p:nvSpPr>
        <p:spPr>
          <a:xfrm>
            <a:off x="9110167" y="3163824"/>
            <a:ext cx="2651760" cy="3264408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5875">
            <a:solidFill>
              <a:srgbClr val="0B69C7"/>
            </a:solidFill>
            <a:prstDash val="solid"/>
          </a:ln>
          <a:effectLst>
            <a:outerShdw sx="100000" sy="100000" kx="0" ky="0" algn="bl" rotWithShape="0" blurRad="114300" dist="25400" dir="5400000">
              <a:srgbClr val="8FA3C4">
                <a:alpha val="28000"/>
              </a:srgbClr>
            </a:outerShdw>
          </a:effectLst>
        </p:spPr>
      </p:sp>
      <p:pic>
        <p:nvPicPr>
          <p:cNvPr id="28" name="Image 4" descr="/tmp/claude-0/-home-user-SmartTVControl/c7267815-9774-5a8b-9a9f-04286a1d8dd3/scratchpad/project/out/prepared/v2r/s4_shtammy_ihbf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15907" y="3236976"/>
            <a:ext cx="2240280" cy="1681593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9201607" y="4974336"/>
            <a:ext cx="24688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1400" b="1" dirty="0">
                <a:solidFill>
                  <a:srgbClr val="0640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Штаммы выделенных почвенных бактерий перед отправкой в ИХБФМ СО РАН, 2023 год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martTVControl/c7267815-9774-5a8b-9a9f-04286a1d8dd3/scratchpad/project/out/prepared/backgrounds/bg_c_mic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29768" y="54864"/>
            <a:ext cx="11332159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rgbClr val="14315E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Наши общие победы: ключевые участники проектов</a:t>
            </a:r>
            <a:endParaRPr lang="en-US" sz="3600" dirty="0"/>
          </a:p>
        </p:txBody>
      </p:sp>
      <p:sp>
        <p:nvSpPr>
          <p:cNvPr id="5" name="Shape 1"/>
          <p:cNvSpPr/>
          <p:nvPr/>
        </p:nvSpPr>
        <p:spPr>
          <a:xfrm>
            <a:off x="429768" y="1024128"/>
            <a:ext cx="3200400" cy="5102352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9050">
            <a:solidFill>
              <a:srgbClr val="2E9B3E"/>
            </a:solidFill>
            <a:prstDash val="solid"/>
          </a:ln>
          <a:effectLst>
            <a:outerShdw sx="100000" sy="100000" kx="0" ky="0" algn="bl" rotWithShape="0" blurRad="114300" dist="25400" dir="5400000">
              <a:srgbClr val="8AA98C">
                <a:alpha val="28000"/>
              </a:srgbClr>
            </a:outerShdw>
          </a:effectLst>
        </p:spPr>
      </p:sp>
      <p:pic>
        <p:nvPicPr>
          <p:cNvPr id="6" name="Image 1" descr="/tmp/claude-0/-home-user-SmartTVControl/c7267815-9774-5a8b-9a9f-04286a1d8dd3/scratchpad/project/out/prepared/v2r/s5_zhukov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7068" y="1133856"/>
            <a:ext cx="685800" cy="685800"/>
          </a:xfrm>
          <a:prstGeom prst="rect">
            <a:avLst/>
          </a:prstGeom>
        </p:spPr>
      </p:pic>
      <p:pic>
        <p:nvPicPr>
          <p:cNvPr id="7" name="Image 2" descr="/tmp/claude-0/-home-user-SmartTVControl/c7267815-9774-5a8b-9a9f-04286a1d8dd3/scratchpad/project/out/prepared/v2r/s5_circ_azot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2072" y="1152144"/>
            <a:ext cx="640080" cy="640080"/>
          </a:xfrm>
          <a:prstGeom prst="rect">
            <a:avLst/>
          </a:prstGeom>
        </p:spPr>
      </p:pic>
      <p:pic>
        <p:nvPicPr>
          <p:cNvPr id="8" name="Image 3" descr="/tmp/claude-0/-home-user-SmartTVControl/c7267815-9774-5a8b-9a9f-04286a1d8dd3/scratchpad/project/out/prepared/v2r/s5_ins_kul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" y="1179576"/>
            <a:ext cx="585216" cy="585216"/>
          </a:xfrm>
          <a:prstGeom prst="rect">
            <a:avLst/>
          </a:prstGeom>
        </p:spPr>
      </p:pic>
      <p:sp>
        <p:nvSpPr>
          <p:cNvPr id="9" name="Shape 2"/>
          <p:cNvSpPr/>
          <p:nvPr/>
        </p:nvSpPr>
        <p:spPr>
          <a:xfrm>
            <a:off x="557784" y="1865376"/>
            <a:ext cx="2944368" cy="530352"/>
          </a:xfrm>
          <a:prstGeom prst="roundRect">
            <a:avLst>
              <a:gd name="adj" fmla="val 20690"/>
            </a:avLst>
          </a:prstGeom>
          <a:solidFill>
            <a:srgbClr val="2E9B3E"/>
          </a:solidFill>
          <a:ln w="19050">
            <a:solidFill>
              <a:srgbClr val="2E9B3E"/>
            </a:solidFill>
            <a:prstDash val="solid"/>
          </a:ln>
          <a:effectLst>
            <a:outerShdw sx="100000" sy="100000" kx="0" ky="0" algn="bl" rotWithShape="0" blurRad="114300" dist="25400" dir="5400000">
              <a:srgbClr val="8AA98C">
                <a:alpha val="28000"/>
              </a:srgbClr>
            </a:outerShdw>
          </a:effectLst>
        </p:spPr>
      </p:sp>
      <p:sp>
        <p:nvSpPr>
          <p:cNvPr id="10" name="Text 3"/>
          <p:cNvSpPr/>
          <p:nvPr/>
        </p:nvSpPr>
        <p:spPr>
          <a:xfrm>
            <a:off x="594360" y="1865376"/>
            <a:ext cx="28712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Алёна Жукова</a:t>
            </a:r>
            <a:endParaRPr lang="en-US" sz="1900" dirty="0"/>
          </a:p>
        </p:txBody>
      </p:sp>
      <p:sp>
        <p:nvSpPr>
          <p:cNvPr id="11" name="Text 4"/>
          <p:cNvSpPr/>
          <p:nvPr/>
        </p:nvSpPr>
        <p:spPr>
          <a:xfrm>
            <a:off x="576072" y="2468880"/>
            <a:ext cx="2907792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lnSpc>
                <a:spcPct val="85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1431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«Большая Перемена»: 2024 — Абсолютный победитель, Лауреат I степени; призёр 2023 и 2025</a:t>
            </a:r>
            <a:endParaRPr lang="en-US" sz="1600" dirty="0"/>
          </a:p>
          <a:p>
            <a:pPr algn="l" marL="127000" indent="-127000">
              <a:lnSpc>
                <a:spcPct val="85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1431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«Большие Вызовы» 2022–2023 — победитель регионального трека; тема: скрининг азотфиксирующих бактерий, Azotobacter</a:t>
            </a:r>
            <a:endParaRPr lang="en-US" sz="1600" dirty="0"/>
          </a:p>
          <a:p>
            <a:pPr algn="l" marL="127000" indent="-127000">
              <a:lnSpc>
                <a:spcPct val="85000"/>
              </a:lnSpc>
              <a:buSzPct val="100000"/>
              <a:buChar char="•"/>
            </a:pPr>
            <a:r>
              <a:rPr lang="en-US" sz="1600" dirty="0">
                <a:solidFill>
                  <a:srgbClr val="1431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2× победитель НПК (Базарный Карабулак); финалист «Экопоколения»; амбассадор юннатского движения</a:t>
            </a:r>
            <a:endParaRPr lang="en-US" sz="1600" dirty="0"/>
          </a:p>
        </p:txBody>
      </p:sp>
      <p:sp>
        <p:nvSpPr>
          <p:cNvPr id="12" name="Shape 5"/>
          <p:cNvSpPr/>
          <p:nvPr/>
        </p:nvSpPr>
        <p:spPr>
          <a:xfrm>
            <a:off x="3841394" y="1024128"/>
            <a:ext cx="2651760" cy="5102352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9050">
            <a:solidFill>
              <a:srgbClr val="2E9B3E"/>
            </a:solidFill>
            <a:prstDash val="solid"/>
          </a:ln>
          <a:effectLst>
            <a:outerShdw sx="100000" sy="100000" kx="0" ky="0" algn="bl" rotWithShape="0" blurRad="114300" dist="25400" dir="5400000">
              <a:srgbClr val="8AA98C">
                <a:alpha val="28000"/>
              </a:srgbClr>
            </a:outerShdw>
          </a:effectLst>
        </p:spPr>
      </p:sp>
      <p:pic>
        <p:nvPicPr>
          <p:cNvPr id="13" name="Image 4" descr="/tmp/claude-0/-home-user-SmartTVControl/c7267815-9774-5a8b-9a9f-04286a1d8dd3/scratchpad/project/out/prepared/v2r/s5_kolyaskin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4374" y="1133856"/>
            <a:ext cx="685800" cy="685800"/>
          </a:xfrm>
          <a:prstGeom prst="rect">
            <a:avLst/>
          </a:prstGeom>
        </p:spPr>
      </p:pic>
      <p:pic>
        <p:nvPicPr>
          <p:cNvPr id="14" name="Image 5" descr="/tmp/claude-0/-home-user-SmartTVControl/c7267815-9774-5a8b-9a9f-04286a1d8dd3/scratchpad/project/out/prepared/v2r/s5_circ_strep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25058" y="1152144"/>
            <a:ext cx="640080" cy="640080"/>
          </a:xfrm>
          <a:prstGeom prst="rect">
            <a:avLst/>
          </a:prstGeom>
        </p:spPr>
      </p:pic>
      <p:sp>
        <p:nvSpPr>
          <p:cNvPr id="15" name="Shape 6"/>
          <p:cNvSpPr/>
          <p:nvPr/>
        </p:nvSpPr>
        <p:spPr>
          <a:xfrm>
            <a:off x="3969410" y="1865376"/>
            <a:ext cx="2395728" cy="530352"/>
          </a:xfrm>
          <a:prstGeom prst="roundRect">
            <a:avLst>
              <a:gd name="adj" fmla="val 20690"/>
            </a:avLst>
          </a:prstGeom>
          <a:solidFill>
            <a:srgbClr val="2E9B3E"/>
          </a:solidFill>
          <a:ln w="19050">
            <a:solidFill>
              <a:srgbClr val="2E9B3E"/>
            </a:solidFill>
            <a:prstDash val="solid"/>
          </a:ln>
          <a:effectLst>
            <a:outerShdw sx="100000" sy="100000" kx="0" ky="0" algn="bl" rotWithShape="0" blurRad="114300" dist="25400" dir="5400000">
              <a:srgbClr val="8AA98C">
                <a:alpha val="28000"/>
              </a:srgbClr>
            </a:outerShdw>
          </a:effectLst>
        </p:spPr>
      </p:sp>
      <p:sp>
        <p:nvSpPr>
          <p:cNvPr id="16" name="Text 7"/>
          <p:cNvSpPr/>
          <p:nvPr/>
        </p:nvSpPr>
        <p:spPr>
          <a:xfrm>
            <a:off x="4005986" y="1865376"/>
            <a:ext cx="23225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Ульяна Коляскина</a:t>
            </a:r>
            <a:endParaRPr lang="en-US" sz="1900" dirty="0"/>
          </a:p>
        </p:txBody>
      </p:sp>
      <p:sp>
        <p:nvSpPr>
          <p:cNvPr id="17" name="Text 8"/>
          <p:cNvSpPr/>
          <p:nvPr/>
        </p:nvSpPr>
        <p:spPr>
          <a:xfrm>
            <a:off x="3987698" y="2468880"/>
            <a:ext cx="2359152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lnSpc>
                <a:spcPct val="85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1431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Призёр регионального трека «Больших Вызовов» 2023–2024; агропромышленные и биотехнологии</a:t>
            </a:r>
            <a:endParaRPr lang="en-US" sz="1600" dirty="0"/>
          </a:p>
          <a:p>
            <a:pPr algn="l" marL="127000" indent="-127000">
              <a:lnSpc>
                <a:spcPct val="85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1431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Тема: поиск продуцентов природных антибиотиков, штаммы Streptomyces</a:t>
            </a:r>
            <a:endParaRPr lang="en-US" sz="1600" dirty="0"/>
          </a:p>
          <a:p>
            <a:pPr algn="l" marL="127000" indent="-127000">
              <a:lnSpc>
                <a:spcPct val="85000"/>
              </a:lnSpc>
              <a:buSzPct val="100000"/>
              <a:buChar char="•"/>
            </a:pPr>
            <a:r>
              <a:rPr lang="en-US" sz="1600" dirty="0">
                <a:solidFill>
                  <a:srgbClr val="1431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Призёр Всероссийской метапредметной НПК (Базарный Карабулак)</a:t>
            </a:r>
            <a:endParaRPr lang="en-US" sz="1600" dirty="0"/>
          </a:p>
        </p:txBody>
      </p:sp>
      <p:sp>
        <p:nvSpPr>
          <p:cNvPr id="18" name="Shape 9"/>
          <p:cNvSpPr/>
          <p:nvPr/>
        </p:nvSpPr>
        <p:spPr>
          <a:xfrm>
            <a:off x="6704381" y="1024128"/>
            <a:ext cx="2377440" cy="5102352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9050">
            <a:solidFill>
              <a:srgbClr val="2E9B3E"/>
            </a:solidFill>
            <a:prstDash val="solid"/>
          </a:ln>
          <a:effectLst>
            <a:outerShdw sx="100000" sy="100000" kx="0" ky="0" algn="bl" rotWithShape="0" blurRad="114300" dist="25400" dir="5400000">
              <a:srgbClr val="8AA98C">
                <a:alpha val="28000"/>
              </a:srgbClr>
            </a:outerShdw>
          </a:effectLst>
        </p:spPr>
      </p:sp>
      <p:pic>
        <p:nvPicPr>
          <p:cNvPr id="19" name="Image 6" descr="/tmp/claude-0/-home-user-SmartTVControl/c7267815-9774-5a8b-9a9f-04286a1d8dd3/scratchpad/project/out/prepared/v2r/s5_petrov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50201" y="1133856"/>
            <a:ext cx="685800" cy="685800"/>
          </a:xfrm>
          <a:prstGeom prst="rect">
            <a:avLst/>
          </a:prstGeom>
        </p:spPr>
      </p:pic>
      <p:sp>
        <p:nvSpPr>
          <p:cNvPr id="20" name="Shape 10"/>
          <p:cNvSpPr/>
          <p:nvPr/>
        </p:nvSpPr>
        <p:spPr>
          <a:xfrm>
            <a:off x="6832397" y="1865376"/>
            <a:ext cx="2121408" cy="530352"/>
          </a:xfrm>
          <a:prstGeom prst="roundRect">
            <a:avLst>
              <a:gd name="adj" fmla="val 20690"/>
            </a:avLst>
          </a:prstGeom>
          <a:solidFill>
            <a:srgbClr val="2E9B3E"/>
          </a:solidFill>
          <a:ln w="19050">
            <a:solidFill>
              <a:srgbClr val="2E9B3E"/>
            </a:solidFill>
            <a:prstDash val="solid"/>
          </a:ln>
          <a:effectLst>
            <a:outerShdw sx="100000" sy="100000" kx="0" ky="0" algn="bl" rotWithShape="0" blurRad="114300" dist="25400" dir="5400000">
              <a:srgbClr val="8AA98C">
                <a:alpha val="28000"/>
              </a:srgbClr>
            </a:outerShdw>
          </a:effectLst>
        </p:spPr>
      </p:sp>
      <p:sp>
        <p:nvSpPr>
          <p:cNvPr id="21" name="Text 11"/>
          <p:cNvSpPr/>
          <p:nvPr/>
        </p:nvSpPr>
        <p:spPr>
          <a:xfrm>
            <a:off x="6868973" y="1865376"/>
            <a:ext cx="20482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Софья Петрова</a:t>
            </a:r>
            <a:endParaRPr lang="en-US" sz="1900" dirty="0"/>
          </a:p>
        </p:txBody>
      </p:sp>
      <p:sp>
        <p:nvSpPr>
          <p:cNvPr id="22" name="Text 12"/>
          <p:cNvSpPr/>
          <p:nvPr/>
        </p:nvSpPr>
        <p:spPr>
          <a:xfrm>
            <a:off x="6850685" y="2468880"/>
            <a:ext cx="2084832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lnSpc>
                <a:spcPct val="85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1431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Финалист Всероссийского конкурса «Большая Перемена» (2022 г.)</a:t>
            </a:r>
            <a:endParaRPr lang="en-US" sz="1600" dirty="0"/>
          </a:p>
          <a:p>
            <a:pPr algn="l" marL="127000" indent="-127000">
              <a:lnSpc>
                <a:spcPct val="85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1431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Победитель регионального трека «АгроНТИ-2022», направление «АгроРоботы»</a:t>
            </a:r>
            <a:endParaRPr lang="en-US" sz="1600" dirty="0"/>
          </a:p>
          <a:p>
            <a:pPr algn="l" marL="127000" indent="-127000">
              <a:lnSpc>
                <a:spcPct val="85000"/>
              </a:lnSpc>
              <a:buSzPct val="100000"/>
              <a:buChar char="•"/>
            </a:pPr>
            <a:r>
              <a:rPr lang="en-US" sz="1600" dirty="0">
                <a:solidFill>
                  <a:srgbClr val="1431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Освоила управление роботами с нуля по видеоурокам</a:t>
            </a:r>
            <a:endParaRPr lang="en-US" sz="1600" dirty="0"/>
          </a:p>
        </p:txBody>
      </p:sp>
      <p:sp>
        <p:nvSpPr>
          <p:cNvPr id="23" name="Shape 13"/>
          <p:cNvSpPr/>
          <p:nvPr/>
        </p:nvSpPr>
        <p:spPr>
          <a:xfrm>
            <a:off x="9293047" y="1024128"/>
            <a:ext cx="2468880" cy="5102352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9050">
            <a:solidFill>
              <a:srgbClr val="2E9B3E"/>
            </a:solidFill>
            <a:prstDash val="solid"/>
          </a:ln>
          <a:effectLst>
            <a:outerShdw sx="100000" sy="100000" kx="0" ky="0" algn="bl" rotWithShape="0" blurRad="114300" dist="25400" dir="5400000">
              <a:srgbClr val="8AA98C">
                <a:alpha val="28000"/>
              </a:srgbClr>
            </a:outerShdw>
          </a:effectLst>
        </p:spPr>
      </p:sp>
      <p:pic>
        <p:nvPicPr>
          <p:cNvPr id="24" name="Image 7" descr="/tmp/claude-0/-home-user-SmartTVControl/c7267815-9774-5a8b-9a9f-04286a1d8dd3/scratchpad/project/out/prepared/v2r/s5_elizarova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84587" y="1133856"/>
            <a:ext cx="685800" cy="685800"/>
          </a:xfrm>
          <a:prstGeom prst="rect">
            <a:avLst/>
          </a:prstGeom>
        </p:spPr>
      </p:pic>
      <p:sp>
        <p:nvSpPr>
          <p:cNvPr id="25" name="Shape 14"/>
          <p:cNvSpPr/>
          <p:nvPr/>
        </p:nvSpPr>
        <p:spPr>
          <a:xfrm>
            <a:off x="9421063" y="1865376"/>
            <a:ext cx="2212848" cy="530352"/>
          </a:xfrm>
          <a:prstGeom prst="roundRect">
            <a:avLst>
              <a:gd name="adj" fmla="val 20690"/>
            </a:avLst>
          </a:prstGeom>
          <a:solidFill>
            <a:srgbClr val="2E9B3E"/>
          </a:solidFill>
          <a:ln w="19050">
            <a:solidFill>
              <a:srgbClr val="2E9B3E"/>
            </a:solidFill>
            <a:prstDash val="solid"/>
          </a:ln>
          <a:effectLst>
            <a:outerShdw sx="100000" sy="100000" kx="0" ky="0" algn="bl" rotWithShape="0" blurRad="114300" dist="25400" dir="5400000">
              <a:srgbClr val="8AA98C">
                <a:alpha val="28000"/>
              </a:srgbClr>
            </a:outerShdw>
          </a:effectLst>
        </p:spPr>
      </p:sp>
      <p:sp>
        <p:nvSpPr>
          <p:cNvPr id="26" name="Text 15"/>
          <p:cNvSpPr/>
          <p:nvPr/>
        </p:nvSpPr>
        <p:spPr>
          <a:xfrm>
            <a:off x="9457639" y="1865376"/>
            <a:ext cx="21396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Вероника Елизарова</a:t>
            </a:r>
            <a:endParaRPr lang="en-US" sz="1900" dirty="0"/>
          </a:p>
        </p:txBody>
      </p:sp>
      <p:sp>
        <p:nvSpPr>
          <p:cNvPr id="27" name="Text 16"/>
          <p:cNvSpPr/>
          <p:nvPr/>
        </p:nvSpPr>
        <p:spPr>
          <a:xfrm>
            <a:off x="9439351" y="2468880"/>
            <a:ext cx="2176272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lnSpc>
                <a:spcPct val="85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1431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Абсолютный победитель регионального этапа Всероссийского конкурса презентаций «Многоликая Россия» (2026 г.)</a:t>
            </a:r>
            <a:endParaRPr lang="en-US" sz="1600" dirty="0"/>
          </a:p>
          <a:p>
            <a:pPr algn="l" marL="127000" indent="-127000">
              <a:lnSpc>
                <a:spcPct val="85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1431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Номинация: Дальневосточный федеральный округ</a:t>
            </a:r>
            <a:endParaRPr lang="en-US" sz="1600" dirty="0"/>
          </a:p>
          <a:p>
            <a:pPr algn="l" marL="127000" indent="-127000">
              <a:lnSpc>
                <a:spcPct val="85000"/>
              </a:lnSpc>
              <a:buSzPct val="100000"/>
              <a:buChar char="•"/>
            </a:pPr>
            <a:r>
              <a:rPr lang="en-US" sz="1600" dirty="0">
                <a:solidFill>
                  <a:srgbClr val="1431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Презентация «Тункинский национальный парк»</a:t>
            </a:r>
            <a:endParaRPr lang="en-US" sz="1600" dirty="0"/>
          </a:p>
        </p:txBody>
      </p:sp>
      <p:sp>
        <p:nvSpPr>
          <p:cNvPr id="28" name="Shape 17"/>
          <p:cNvSpPr/>
          <p:nvPr/>
        </p:nvSpPr>
        <p:spPr>
          <a:xfrm>
            <a:off x="429768" y="6181344"/>
            <a:ext cx="11332159" cy="365760"/>
          </a:xfrm>
          <a:prstGeom prst="roundRect">
            <a:avLst>
              <a:gd name="adj" fmla="val 30000"/>
            </a:avLst>
          </a:prstGeom>
          <a:solidFill>
            <a:srgbClr val="14315E"/>
          </a:solidFill>
          <a:ln w="19050">
            <a:solidFill>
              <a:srgbClr val="14315E"/>
            </a:solidFill>
            <a:prstDash val="solid"/>
          </a:ln>
          <a:effectLst>
            <a:outerShdw sx="100000" sy="100000" kx="0" ky="0" algn="bl" rotWithShape="0" blurRad="114300" dist="25400" dir="5400000">
              <a:srgbClr val="0C1E3A">
                <a:alpha val="28000"/>
              </a:srgbClr>
            </a:outerShdw>
          </a:effectLst>
        </p:spPr>
      </p:sp>
      <p:sp>
        <p:nvSpPr>
          <p:cNvPr id="29" name="Text 18"/>
          <p:cNvSpPr/>
          <p:nvPr/>
        </p:nvSpPr>
        <p:spPr>
          <a:xfrm>
            <a:off x="429768" y="6181344"/>
            <a:ext cx="113321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Наставник проектных команд: учитель биологии Еременко А.М.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martTVControl/c7267815-9774-5a8b-9a9f-04286a1d8dd3/scratchpad/project/out/prepared/backgrounds/bg_c_cel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29768" y="201168"/>
            <a:ext cx="113321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rgbClr val="14315E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Наставник растёт вместе с учениками</a:t>
            </a:r>
            <a:endParaRPr lang="en-US" sz="3600" dirty="0"/>
          </a:p>
        </p:txBody>
      </p:sp>
      <p:pic>
        <p:nvPicPr>
          <p:cNvPr id="5" name="Image 1" descr="/tmp/claude-0/-home-user-SmartTVControl/c7267815-9774-5a8b-9a9f-04286a1d8dd3/scratchpad/project/out/prepared/v2/s6_docs_fan_2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1554480"/>
            <a:ext cx="5669280" cy="2716530"/>
          </a:xfrm>
          <a:prstGeom prst="rect">
            <a:avLst/>
          </a:prstGeom>
        </p:spPr>
      </p:pic>
      <p:pic>
        <p:nvPicPr>
          <p:cNvPr id="6" name="Image 2" descr="/tmp/claude-0/-home-user-SmartTVControl/c7267815-9774-5a8b-9a9f-04286a1d8dd3/scratchpad/project/out/prepared/v2/s6_nagrady_colla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896112"/>
            <a:ext cx="4937760" cy="4266000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>
            <a:off x="429768" y="5266944"/>
            <a:ext cx="4937760" cy="1161288"/>
          </a:xfrm>
          <a:prstGeom prst="roundRect">
            <a:avLst>
              <a:gd name="adj" fmla="val 9449"/>
            </a:avLst>
          </a:prstGeom>
          <a:solidFill>
            <a:srgbClr val="14315E"/>
          </a:solidFill>
          <a:ln w="19050">
            <a:solidFill>
              <a:srgbClr val="14315E"/>
            </a:solidFill>
            <a:prstDash val="solid"/>
          </a:ln>
          <a:effectLst>
            <a:outerShdw sx="100000" sy="100000" kx="0" ky="0" algn="bl" rotWithShape="0" blurRad="114300" dist="25400" dir="5400000">
              <a:srgbClr val="0C1E3A">
                <a:alpha val="28000"/>
              </a:srgbClr>
            </a:outerShdw>
          </a:effectLst>
        </p:spPr>
      </p:sp>
      <p:sp>
        <p:nvSpPr>
          <p:cNvPr id="8" name="Text 2"/>
          <p:cNvSpPr/>
          <p:nvPr/>
        </p:nvSpPr>
        <p:spPr>
          <a:xfrm>
            <a:off x="612648" y="5340096"/>
            <a:ext cx="457200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Благодарность Первого заместителя Руководителя Администрации Президента Российской Федерации С. В. Кириенко — 2020, 2021, 2022 и 2024 годы</a:t>
            </a:r>
            <a:endParaRPr lang="en-US" sz="1600" dirty="0"/>
          </a:p>
        </p:txBody>
      </p:sp>
      <p:pic>
        <p:nvPicPr>
          <p:cNvPr id="9" name="Image 3" descr="/tmp/claude-0/-home-user-SmartTVControl/c7267815-9774-5a8b-9a9f-04286a1d8dd3/scratchpad/project/out/prepared/v2r/s6_arte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0" y="896112"/>
            <a:ext cx="2834640" cy="2054599"/>
          </a:xfrm>
          <a:prstGeom prst="rect">
            <a:avLst/>
          </a:prstGeom>
        </p:spPr>
      </p:pic>
      <p:sp>
        <p:nvSpPr>
          <p:cNvPr id="10" name="Shape 3"/>
          <p:cNvSpPr/>
          <p:nvPr/>
        </p:nvSpPr>
        <p:spPr>
          <a:xfrm>
            <a:off x="8540496" y="896112"/>
            <a:ext cx="3218688" cy="2048256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9050">
            <a:solidFill>
              <a:srgbClr val="2E9B3E"/>
            </a:solidFill>
            <a:prstDash val="solid"/>
          </a:ln>
          <a:effectLst>
            <a:outerShdw sx="100000" sy="100000" kx="0" ky="0" algn="bl" rotWithShape="0" blurRad="114300" dist="25400" dir="5400000">
              <a:srgbClr val="8FA3C4">
                <a:alpha val="28000"/>
              </a:srgbClr>
            </a:outerShdw>
          </a:effectLst>
        </p:spPr>
      </p:sp>
      <p:sp>
        <p:nvSpPr>
          <p:cNvPr id="11" name="Text 4"/>
          <p:cNvSpPr/>
          <p:nvPr/>
        </p:nvSpPr>
        <p:spPr>
          <a:xfrm>
            <a:off x="8677656" y="969264"/>
            <a:ext cx="2944368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1431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Удостоверение о повышении квалификации ФГБОУ «Международный детский центр „Артек“» по программе «Современные инструменты наставничества в воспитательной деятельности образовательной организации», 36 часов</a:t>
            </a:r>
            <a:endParaRPr lang="en-US" sz="1400" dirty="0"/>
          </a:p>
        </p:txBody>
      </p:sp>
      <p:pic>
        <p:nvPicPr>
          <p:cNvPr id="12" name="Image 4" descr="/tmp/claude-0/-home-user-SmartTVControl/c7267815-9774-5a8b-9a9f-04286a1d8dd3/scratchpad/project/out/prepared/v2r/s6_foto_vrucheni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3560" y="3054096"/>
            <a:ext cx="2935224" cy="2197127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5623560" y="5340096"/>
            <a:ext cx="2935224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1400" b="1" dirty="0">
                <a:solidFill>
                  <a:srgbClr val="1431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Вручение благодарности Первого заместителя Руководителя Администрации Президента Российской Федерации С. В. Кириенко</a:t>
            </a:r>
            <a:endParaRPr lang="en-US" sz="1400" dirty="0"/>
          </a:p>
        </p:txBody>
      </p:sp>
      <p:pic>
        <p:nvPicPr>
          <p:cNvPr id="14" name="Image 5" descr="/tmp/claude-0/-home-user-SmartTVControl/c7267815-9774-5a8b-9a9f-04286a1d8dd3/scratchpad/project/out/prepared/v2r/s6_foto_grupp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23960" y="3054096"/>
            <a:ext cx="2935224" cy="2200026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8823960" y="5340096"/>
            <a:ext cx="2935224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1400" b="1" dirty="0">
                <a:solidFill>
                  <a:srgbClr val="1431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Групповая работа наставников победителей на образовательной программе при решении кейсов. Почувствуй себя в роли наставляемого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martTVControl/c7267815-9774-5a8b-9a9f-04286a1d8dd3/scratchpad/project/out/prepared/backgrounds/bg_c_neu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29768" y="128016"/>
            <a:ext cx="11332159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rgbClr val="14315E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Проект школьных инициатив — от мечты к реальности!</a:t>
            </a:r>
            <a:endParaRPr lang="en-US" sz="3600" dirty="0"/>
          </a:p>
        </p:txBody>
      </p:sp>
      <p:sp>
        <p:nvSpPr>
          <p:cNvPr id="5" name="Shape 1"/>
          <p:cNvSpPr/>
          <p:nvPr/>
        </p:nvSpPr>
        <p:spPr>
          <a:xfrm>
            <a:off x="429768" y="1225296"/>
            <a:ext cx="8366760" cy="148132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9050">
            <a:solidFill>
              <a:srgbClr val="2E9B3E"/>
            </a:solidFill>
            <a:prstDash val="solid"/>
          </a:ln>
          <a:effectLst>
            <a:outerShdw sx="100000" sy="100000" kx="0" ky="0" algn="bl" rotWithShape="0" blurRad="114300" dist="25400" dir="5400000">
              <a:srgbClr val="8AA98C">
                <a:alpha val="28000"/>
              </a:srgbClr>
            </a:outerShdw>
          </a:effectLst>
        </p:spPr>
      </p:sp>
      <p:sp>
        <p:nvSpPr>
          <p:cNvPr id="6" name="Text 2"/>
          <p:cNvSpPr/>
          <p:nvPr/>
        </p:nvSpPr>
        <p:spPr>
          <a:xfrm>
            <a:off x="594360" y="1316736"/>
            <a:ext cx="803757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1600" b="1" dirty="0">
                <a:solidFill>
                  <a:srgbClr val="1E7A2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Идея создания научной лаборатории. </a:t>
            </a:r>
            <a:pPr algn="l" indent="0" marL="0">
              <a:lnSpc>
                <a:spcPct val="94000"/>
              </a:lnSpc>
              <a:buNone/>
            </a:pPr>
            <a:r>
              <a:rPr lang="en-US" sz="1600" dirty="0">
                <a:solidFill>
                  <a:srgbClr val="1431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Идея создания научной лаборатории в кабинете биологии для формирования экологически ответственного поведения и развития научной деятельности среди школьников возникала неоднократно, когда ученики выполняли научно-исследовательские проекты. Ребята участвовали в экологических конкурсах для получения гранта на открытие лаборатории.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429768" y="2779776"/>
            <a:ext cx="4091940" cy="2139696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9050">
            <a:solidFill>
              <a:srgbClr val="2E9B3E"/>
            </a:solidFill>
            <a:prstDash val="solid"/>
          </a:ln>
          <a:effectLst>
            <a:outerShdw sx="100000" sy="100000" kx="0" ky="0" algn="bl" rotWithShape="0" blurRad="114300" dist="25400" dir="5400000">
              <a:srgbClr val="8AA98C">
                <a:alpha val="28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594360" y="2871216"/>
            <a:ext cx="3762756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1600" b="1" dirty="0">
                <a:solidFill>
                  <a:srgbClr val="1E7A2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Катализатор — начало открытия. </a:t>
            </a:r>
            <a:pPr algn="l" indent="0" marL="0">
              <a:lnSpc>
                <a:spcPct val="94000"/>
              </a:lnSpc>
              <a:buNone/>
            </a:pPr>
            <a:r>
              <a:rPr lang="en-US" sz="1600" dirty="0">
                <a:solidFill>
                  <a:srgbClr val="1431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Гриченко Александр, став победителем Всероссийского конкурса «Большая Перемена», получает премию и в 2022 году передаёт в дар современный световой микроскоп — это стало отправной точкой на пути к открытию школьной лаборатории.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4704588" y="2779776"/>
            <a:ext cx="4091940" cy="2139696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9050">
            <a:solidFill>
              <a:srgbClr val="2E9B3E"/>
            </a:solidFill>
            <a:prstDash val="solid"/>
          </a:ln>
          <a:effectLst>
            <a:outerShdw sx="100000" sy="100000" kx="0" ky="0" algn="bl" rotWithShape="0" blurRad="114300" dist="25400" dir="5400000">
              <a:srgbClr val="8AA98C">
                <a:alpha val="28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4869180" y="2871216"/>
            <a:ext cx="3762756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1600" b="1" dirty="0">
                <a:solidFill>
                  <a:srgbClr val="1E7A2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Предложение проекта и первый этап. </a:t>
            </a:r>
            <a:pPr algn="l" indent="0" marL="0">
              <a:lnSpc>
                <a:spcPct val="94000"/>
              </a:lnSpc>
              <a:buNone/>
            </a:pPr>
            <a:r>
              <a:rPr lang="en-US" sz="1600" dirty="0">
                <a:solidFill>
                  <a:srgbClr val="1431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29 ноября 2024 года Жукова Алёна, Бондаренко София на школьном этапе конкурса «Проект школьных инициатив» представили проект «Научная лаборатория БиоЛаб» и по результатам голосования прошли на муниципальный этап конкурса.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429768" y="4992624"/>
            <a:ext cx="8366760" cy="1435608"/>
          </a:xfrm>
          <a:prstGeom prst="roundRect">
            <a:avLst>
              <a:gd name="adj" fmla="val 7643"/>
            </a:avLst>
          </a:prstGeom>
          <a:solidFill>
            <a:srgbClr val="FFFFFF"/>
          </a:solidFill>
          <a:ln w="19050">
            <a:solidFill>
              <a:srgbClr val="2E9B3E"/>
            </a:solidFill>
            <a:prstDash val="solid"/>
          </a:ln>
          <a:effectLst>
            <a:outerShdw sx="100000" sy="100000" kx="0" ky="0" algn="bl" rotWithShape="0" blurRad="114300" dist="25400" dir="5400000">
              <a:srgbClr val="8AA98C">
                <a:alpha val="28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594360" y="5084064"/>
            <a:ext cx="8037576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1600" b="1" dirty="0">
                <a:solidFill>
                  <a:srgbClr val="1E7A2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Результат и успешная защита. </a:t>
            </a:r>
            <a:pPr algn="l" indent="0" marL="0">
              <a:lnSpc>
                <a:spcPct val="94000"/>
              </a:lnSpc>
              <a:buNone/>
            </a:pPr>
            <a:r>
              <a:rPr lang="en-US" sz="1600" dirty="0">
                <a:solidFill>
                  <a:srgbClr val="1431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 муниципальном этапе конкурса при поддержке заместителя директора по ВР Папиной А.Н., заместителя директора по ИКТ Кулагина Артура Александровича Жукова Алёна и Ланцев Никита успешно защищают проект, и в школе в кабинете биологии появляется экологическое пространство с учебно-исследовательской лабораторией биосигналов и нейротехнологий.</a:t>
            </a:r>
            <a:endParaRPr lang="en-US" sz="1600" dirty="0"/>
          </a:p>
        </p:txBody>
      </p:sp>
      <p:pic>
        <p:nvPicPr>
          <p:cNvPr id="13" name="Image 1" descr="/tmp/claude-0/-home-user-SmartTVControl/c7267815-9774-5a8b-9a9f-04286a1d8dd3/scratchpad/project/out/prepared/v2r/s7_zashchit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6296" y="1225296"/>
            <a:ext cx="2380183" cy="158678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070848" y="2852928"/>
            <a:ext cx="2691079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1400" b="1" dirty="0">
                <a:solidFill>
                  <a:srgbClr val="1431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Жукова Алёна, Ланцев Никита успешно защищают проект «БиоЛаб» на муниципальном этапе конкурса «Школьная инициатива»</a:t>
            </a:r>
            <a:endParaRPr lang="en-US" sz="1400" dirty="0"/>
          </a:p>
        </p:txBody>
      </p:sp>
      <p:pic>
        <p:nvPicPr>
          <p:cNvPr id="15" name="Image 2" descr="/tmp/claude-0/-home-user-SmartTVControl/c7267815-9774-5a8b-9a9f-04286a1d8dd3/scratchpad/project/out/prepared/v2r/s7_biolab_roo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6296" y="4206240"/>
            <a:ext cx="2380183" cy="165234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070848" y="5925312"/>
            <a:ext cx="269107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1400" b="1" dirty="0">
                <a:solidFill>
                  <a:srgbClr val="1431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Школьная научная лаборатория «БиоЛаб»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martTVControl/c7267815-9774-5a8b-9a9f-04286a1d8dd3/scratchpad/project/out/prepared/backgrounds/bg_c_neu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29768" y="146304"/>
            <a:ext cx="11332159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000" dirty="0">
                <a:solidFill>
                  <a:srgbClr val="14315E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«БиоЛаб» в работе: команда и исследования</a:t>
            </a:r>
            <a:endParaRPr lang="en-US" sz="4000" dirty="0"/>
          </a:p>
        </p:txBody>
      </p:sp>
      <p:sp>
        <p:nvSpPr>
          <p:cNvPr id="5" name="Shape 1"/>
          <p:cNvSpPr/>
          <p:nvPr/>
        </p:nvSpPr>
        <p:spPr>
          <a:xfrm>
            <a:off x="429768" y="1444752"/>
            <a:ext cx="11332159" cy="786384"/>
          </a:xfrm>
          <a:prstGeom prst="roundRect">
            <a:avLst>
              <a:gd name="adj" fmla="val 13953"/>
            </a:avLst>
          </a:prstGeom>
          <a:solidFill>
            <a:srgbClr val="2E9B3E"/>
          </a:solidFill>
          <a:ln w="19050">
            <a:solidFill>
              <a:srgbClr val="2E9B3E"/>
            </a:solidFill>
            <a:prstDash val="solid"/>
          </a:ln>
          <a:effectLst>
            <a:outerShdw sx="100000" sy="100000" kx="0" ky="0" algn="bl" rotWithShape="0" blurRad="114300" dist="25400" dir="5400000">
              <a:srgbClr val="8AA98C">
                <a:alpha val="28000"/>
              </a:srgbClr>
            </a:outerShdw>
          </a:effectLst>
        </p:spPr>
      </p:sp>
      <p:sp>
        <p:nvSpPr>
          <p:cNvPr id="6" name="Text 2"/>
          <p:cNvSpPr/>
          <p:nvPr/>
        </p:nvSpPr>
        <p:spPr>
          <a:xfrm>
            <a:off x="429768" y="1444752"/>
            <a:ext cx="1133215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Наставник проекта: Еременко Анна Михайловна</a:t>
            </a:r>
            <a:endParaRPr lang="en-US" sz="2700" dirty="0"/>
          </a:p>
        </p:txBody>
      </p:sp>
      <p:sp>
        <p:nvSpPr>
          <p:cNvPr id="7" name="Shape 3"/>
          <p:cNvSpPr/>
          <p:nvPr/>
        </p:nvSpPr>
        <p:spPr>
          <a:xfrm>
            <a:off x="429768" y="2340864"/>
            <a:ext cx="11332159" cy="2304288"/>
          </a:xfrm>
          <a:prstGeom prst="roundRect">
            <a:avLst>
              <a:gd name="adj" fmla="val 4762"/>
            </a:avLst>
          </a:prstGeom>
          <a:solidFill>
            <a:srgbClr val="14315E"/>
          </a:solidFill>
          <a:ln w="19050">
            <a:solidFill>
              <a:srgbClr val="14315E"/>
            </a:solidFill>
            <a:prstDash val="solid"/>
          </a:ln>
          <a:effectLst>
            <a:outerShdw sx="100000" sy="100000" kx="0" ky="0" algn="bl" rotWithShape="0" blurRad="114300" dist="25400" dir="5400000">
              <a:srgbClr val="0C1E3A">
                <a:alpha val="28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704088" y="2432304"/>
            <a:ext cx="1078351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Исследователи — ученики 10 класса</a:t>
            </a:r>
            <a:endParaRPr lang="en-US" sz="2500" dirty="0"/>
          </a:p>
        </p:txBody>
      </p:sp>
      <p:sp>
        <p:nvSpPr>
          <p:cNvPr id="9" name="Shape 5"/>
          <p:cNvSpPr/>
          <p:nvPr/>
        </p:nvSpPr>
        <p:spPr>
          <a:xfrm>
            <a:off x="704088" y="2962656"/>
            <a:ext cx="3448202" cy="457200"/>
          </a:xfrm>
          <a:prstGeom prst="roundRect">
            <a:avLst>
              <a:gd name="adj" fmla="val 20000"/>
            </a:avLst>
          </a:prstGeom>
          <a:solidFill>
            <a:srgbClr val="20406F"/>
          </a:solidFill>
          <a:ln w="12700">
            <a:solidFill>
              <a:srgbClr val="486693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32104" y="2962656"/>
            <a:ext cx="31921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Владимирова Диана</a:t>
            </a:r>
            <a:endParaRPr lang="en-US" sz="2100" dirty="0"/>
          </a:p>
        </p:txBody>
      </p:sp>
      <p:sp>
        <p:nvSpPr>
          <p:cNvPr id="11" name="Shape 7"/>
          <p:cNvSpPr/>
          <p:nvPr/>
        </p:nvSpPr>
        <p:spPr>
          <a:xfrm>
            <a:off x="4371746" y="2962656"/>
            <a:ext cx="3448202" cy="457200"/>
          </a:xfrm>
          <a:prstGeom prst="roundRect">
            <a:avLst>
              <a:gd name="adj" fmla="val 20000"/>
            </a:avLst>
          </a:prstGeom>
          <a:solidFill>
            <a:srgbClr val="20406F"/>
          </a:solidFill>
          <a:ln w="12700">
            <a:solidFill>
              <a:srgbClr val="486693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499762" y="2962656"/>
            <a:ext cx="31921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Видонов Артём</a:t>
            </a:r>
            <a:endParaRPr lang="en-US" sz="2100" dirty="0"/>
          </a:p>
        </p:txBody>
      </p:sp>
      <p:sp>
        <p:nvSpPr>
          <p:cNvPr id="13" name="Shape 9"/>
          <p:cNvSpPr/>
          <p:nvPr/>
        </p:nvSpPr>
        <p:spPr>
          <a:xfrm>
            <a:off x="8039405" y="2962656"/>
            <a:ext cx="3448202" cy="457200"/>
          </a:xfrm>
          <a:prstGeom prst="roundRect">
            <a:avLst>
              <a:gd name="adj" fmla="val 20000"/>
            </a:avLst>
          </a:prstGeom>
          <a:solidFill>
            <a:srgbClr val="20406F"/>
          </a:solidFill>
          <a:ln w="12700">
            <a:solidFill>
              <a:srgbClr val="48669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167421" y="2962656"/>
            <a:ext cx="31921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Гужов Алексей</a:t>
            </a:r>
            <a:endParaRPr lang="en-US" sz="2100" dirty="0"/>
          </a:p>
        </p:txBody>
      </p:sp>
      <p:sp>
        <p:nvSpPr>
          <p:cNvPr id="15" name="Shape 11"/>
          <p:cNvSpPr/>
          <p:nvPr/>
        </p:nvSpPr>
        <p:spPr>
          <a:xfrm>
            <a:off x="704088" y="3493008"/>
            <a:ext cx="3448202" cy="457200"/>
          </a:xfrm>
          <a:prstGeom prst="roundRect">
            <a:avLst>
              <a:gd name="adj" fmla="val 20000"/>
            </a:avLst>
          </a:prstGeom>
          <a:solidFill>
            <a:srgbClr val="20406F"/>
          </a:solidFill>
          <a:ln w="12700">
            <a:solidFill>
              <a:srgbClr val="48669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32104" y="3493008"/>
            <a:ext cx="31921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Елизарова Вероника</a:t>
            </a:r>
            <a:endParaRPr lang="en-US" sz="2100" dirty="0"/>
          </a:p>
        </p:txBody>
      </p:sp>
      <p:sp>
        <p:nvSpPr>
          <p:cNvPr id="17" name="Shape 13"/>
          <p:cNvSpPr/>
          <p:nvPr/>
        </p:nvSpPr>
        <p:spPr>
          <a:xfrm>
            <a:off x="4371746" y="3493008"/>
            <a:ext cx="3448202" cy="457200"/>
          </a:xfrm>
          <a:prstGeom prst="roundRect">
            <a:avLst>
              <a:gd name="adj" fmla="val 20000"/>
            </a:avLst>
          </a:prstGeom>
          <a:solidFill>
            <a:srgbClr val="20406F"/>
          </a:solidFill>
          <a:ln w="12700">
            <a:solidFill>
              <a:srgbClr val="48669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499762" y="3493008"/>
            <a:ext cx="31921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Иванова Диана</a:t>
            </a:r>
            <a:endParaRPr lang="en-US" sz="2100" dirty="0"/>
          </a:p>
        </p:txBody>
      </p:sp>
      <p:sp>
        <p:nvSpPr>
          <p:cNvPr id="19" name="Shape 15"/>
          <p:cNvSpPr/>
          <p:nvPr/>
        </p:nvSpPr>
        <p:spPr>
          <a:xfrm>
            <a:off x="8039405" y="3493008"/>
            <a:ext cx="3448202" cy="457200"/>
          </a:xfrm>
          <a:prstGeom prst="roundRect">
            <a:avLst>
              <a:gd name="adj" fmla="val 20000"/>
            </a:avLst>
          </a:prstGeom>
          <a:solidFill>
            <a:srgbClr val="20406F"/>
          </a:solidFill>
          <a:ln w="12700">
            <a:solidFill>
              <a:srgbClr val="486693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8167421" y="3493008"/>
            <a:ext cx="31921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Малышева Анастасия</a:t>
            </a:r>
            <a:endParaRPr lang="en-US" sz="2100" dirty="0"/>
          </a:p>
        </p:txBody>
      </p:sp>
      <p:sp>
        <p:nvSpPr>
          <p:cNvPr id="21" name="Shape 17"/>
          <p:cNvSpPr/>
          <p:nvPr/>
        </p:nvSpPr>
        <p:spPr>
          <a:xfrm>
            <a:off x="704088" y="4023360"/>
            <a:ext cx="3448202" cy="457200"/>
          </a:xfrm>
          <a:prstGeom prst="roundRect">
            <a:avLst>
              <a:gd name="adj" fmla="val 20000"/>
            </a:avLst>
          </a:prstGeom>
          <a:solidFill>
            <a:srgbClr val="20406F"/>
          </a:solidFill>
          <a:ln w="12700">
            <a:solidFill>
              <a:srgbClr val="486693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32104" y="4023360"/>
            <a:ext cx="31921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Рощин Алексей</a:t>
            </a:r>
            <a:endParaRPr lang="en-US" sz="2100" dirty="0"/>
          </a:p>
        </p:txBody>
      </p:sp>
      <p:sp>
        <p:nvSpPr>
          <p:cNvPr id="23" name="Shape 19"/>
          <p:cNvSpPr/>
          <p:nvPr/>
        </p:nvSpPr>
        <p:spPr>
          <a:xfrm>
            <a:off x="4371746" y="4023360"/>
            <a:ext cx="3448202" cy="457200"/>
          </a:xfrm>
          <a:prstGeom prst="roundRect">
            <a:avLst>
              <a:gd name="adj" fmla="val 20000"/>
            </a:avLst>
          </a:prstGeom>
          <a:solidFill>
            <a:srgbClr val="20406F"/>
          </a:solidFill>
          <a:ln w="12700">
            <a:solidFill>
              <a:srgbClr val="486693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499762" y="4023360"/>
            <a:ext cx="31921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Татушенко Егор</a:t>
            </a:r>
            <a:endParaRPr lang="en-US" sz="2100" dirty="0"/>
          </a:p>
        </p:txBody>
      </p:sp>
      <p:sp>
        <p:nvSpPr>
          <p:cNvPr id="25" name="Shape 21"/>
          <p:cNvSpPr/>
          <p:nvPr/>
        </p:nvSpPr>
        <p:spPr>
          <a:xfrm>
            <a:off x="8039405" y="4023360"/>
            <a:ext cx="3448202" cy="457200"/>
          </a:xfrm>
          <a:prstGeom prst="roundRect">
            <a:avLst>
              <a:gd name="adj" fmla="val 20000"/>
            </a:avLst>
          </a:prstGeom>
          <a:solidFill>
            <a:srgbClr val="20406F"/>
          </a:solidFill>
          <a:ln w="12700">
            <a:solidFill>
              <a:srgbClr val="486693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8167421" y="4023360"/>
            <a:ext cx="31921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Тропников Иван</a:t>
            </a:r>
            <a:endParaRPr lang="en-US" sz="2100" dirty="0"/>
          </a:p>
        </p:txBody>
      </p:sp>
      <p:sp>
        <p:nvSpPr>
          <p:cNvPr id="27" name="Shape 23"/>
          <p:cNvSpPr/>
          <p:nvPr/>
        </p:nvSpPr>
        <p:spPr>
          <a:xfrm>
            <a:off x="429768" y="4773168"/>
            <a:ext cx="11332159" cy="841248"/>
          </a:xfrm>
          <a:prstGeom prst="roundRect">
            <a:avLst>
              <a:gd name="adj" fmla="val 13043"/>
            </a:avLst>
          </a:prstGeom>
          <a:solidFill>
            <a:srgbClr val="2E9B3E"/>
          </a:solidFill>
          <a:ln w="19050">
            <a:solidFill>
              <a:srgbClr val="2E9B3E"/>
            </a:solidFill>
            <a:prstDash val="solid"/>
          </a:ln>
          <a:effectLst>
            <a:outerShdw sx="100000" sy="100000" kx="0" ky="0" algn="bl" rotWithShape="0" blurRad="114300" dist="25400" dir="5400000">
              <a:srgbClr val="8AA98C">
                <a:alpha val="28000"/>
              </a:srgbClr>
            </a:outerShdw>
          </a:effectLst>
        </p:spPr>
      </p:sp>
      <p:sp>
        <p:nvSpPr>
          <p:cNvPr id="28" name="Text 24"/>
          <p:cNvSpPr/>
          <p:nvPr/>
        </p:nvSpPr>
        <p:spPr>
          <a:xfrm>
            <a:off x="612648" y="4773168"/>
            <a:ext cx="1096639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Ассистенты проекта (ученицы 5 «Б» класса): Виноградова Алиса, Радаева София</a:t>
            </a:r>
            <a:endParaRPr lang="en-US" sz="2200" dirty="0"/>
          </a:p>
        </p:txBody>
      </p:sp>
      <p:sp>
        <p:nvSpPr>
          <p:cNvPr id="29" name="Shape 25"/>
          <p:cNvSpPr/>
          <p:nvPr/>
        </p:nvSpPr>
        <p:spPr>
          <a:xfrm>
            <a:off x="429768" y="5724144"/>
            <a:ext cx="11332159" cy="704088"/>
          </a:xfrm>
          <a:prstGeom prst="roundRect">
            <a:avLst>
              <a:gd name="adj" fmla="val 15584"/>
            </a:avLst>
          </a:prstGeom>
          <a:solidFill>
            <a:srgbClr val="FFFFFF"/>
          </a:solidFill>
          <a:ln w="31750">
            <a:solidFill>
              <a:srgbClr val="1E7A2C"/>
            </a:solidFill>
            <a:prstDash val="solid"/>
          </a:ln>
          <a:effectLst>
            <a:outerShdw sx="100000" sy="100000" kx="0" ky="0" algn="bl" rotWithShape="0" blurRad="114300" dist="25400" dir="5400000">
              <a:srgbClr val="8FA3C4">
                <a:alpha val="28000"/>
              </a:srgbClr>
            </a:outerShdw>
          </a:effectLst>
        </p:spPr>
      </p:sp>
      <p:sp>
        <p:nvSpPr>
          <p:cNvPr id="30" name="Text 26"/>
          <p:cNvSpPr/>
          <p:nvPr/>
        </p:nvSpPr>
        <p:spPr>
          <a:xfrm>
            <a:off x="612648" y="5724144"/>
            <a:ext cx="10966399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100" dirty="0">
                <a:solidFill>
                  <a:srgbClr val="1E7A2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Преемственность поколений: когда старшие ученики становятся наставниками для младших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martTVControl/c7267815-9774-5a8b-9a9f-04286a1d8dd3/scratchpad/project/out/prepared/backgrounds/bg_c_ec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29768" y="201168"/>
            <a:ext cx="113321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800" dirty="0">
                <a:solidFill>
                  <a:srgbClr val="14315E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Практическая наука в «БиоЛаб»</a:t>
            </a:r>
            <a:endParaRPr lang="en-US" sz="3800" dirty="0"/>
          </a:p>
        </p:txBody>
      </p:sp>
      <p:sp>
        <p:nvSpPr>
          <p:cNvPr id="5" name="Shape 1"/>
          <p:cNvSpPr/>
          <p:nvPr/>
        </p:nvSpPr>
        <p:spPr>
          <a:xfrm>
            <a:off x="429768" y="914400"/>
            <a:ext cx="3931920" cy="5513832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9050">
            <a:solidFill>
              <a:srgbClr val="2E9B3E"/>
            </a:solidFill>
            <a:prstDash val="solid"/>
          </a:ln>
          <a:effectLst>
            <a:outerShdw sx="100000" sy="100000" kx="0" ky="0" algn="bl" rotWithShape="0" blurRad="114300" dist="25400" dir="5400000">
              <a:srgbClr val="8AA98C">
                <a:alpha val="28000"/>
              </a:srgbClr>
            </a:outerShdw>
          </a:effectLst>
        </p:spPr>
      </p:sp>
      <p:sp>
        <p:nvSpPr>
          <p:cNvPr id="6" name="Text 2"/>
          <p:cNvSpPr/>
          <p:nvPr/>
        </p:nvSpPr>
        <p:spPr>
          <a:xfrm>
            <a:off x="566928" y="1024128"/>
            <a:ext cx="3657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1900" dirty="0">
                <a:solidFill>
                  <a:srgbClr val="14315E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Эксперимент №1</a:t>
            </a:r>
            <a:endParaRPr lang="en-US" sz="190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1900" dirty="0">
                <a:solidFill>
                  <a:srgbClr val="14315E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«От сердца к цифре»</a:t>
            </a:r>
            <a:endParaRPr lang="en-US" sz="1900" dirty="0"/>
          </a:p>
        </p:txBody>
      </p:sp>
      <p:pic>
        <p:nvPicPr>
          <p:cNvPr id="7" name="Image 1" descr="/tmp/claude-0/-home-user-SmartTVControl/c7267815-9774-5a8b-9a9f-04286a1d8dd3/scratchpad/project/out/prepared/v2r/s9_ec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20240"/>
            <a:ext cx="3657600" cy="199948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66928" y="4005072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600" dirty="0">
                <a:solidFill>
                  <a:srgbClr val="1431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Цель: регистрация биосигналов и расчёт ЧСС.</a:t>
            </a:r>
            <a:endParaRPr lang="en-US" sz="1600" dirty="0"/>
          </a:p>
          <a:p>
            <a:pPr algn="l" indent="0" marL="0">
              <a:lnSpc>
                <a:spcPct val="96000"/>
              </a:lnSpc>
              <a:buNone/>
            </a:pPr>
            <a:r>
              <a:rPr lang="en-US" sz="1600" dirty="0">
                <a:solidFill>
                  <a:srgbClr val="1431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Достижения: освоена техника I отведения и настройки фильтрации.</a:t>
            </a:r>
            <a:endParaRPr lang="en-US" sz="1600" dirty="0"/>
          </a:p>
          <a:p>
            <a:pPr algn="l" indent="0" marL="0">
              <a:lnSpc>
                <a:spcPct val="96000"/>
              </a:lnSpc>
              <a:buNone/>
            </a:pPr>
            <a:r>
              <a:rPr lang="en-US" sz="1600" dirty="0">
                <a:solidFill>
                  <a:srgbClr val="1431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Результат: биосигналы переведены в точные цифровые данные.</a:t>
            </a:r>
            <a:endParaRPr lang="en-US" sz="1600" dirty="0"/>
          </a:p>
        </p:txBody>
      </p:sp>
      <p:sp>
        <p:nvSpPr>
          <p:cNvPr id="9" name="Shape 4"/>
          <p:cNvSpPr/>
          <p:nvPr/>
        </p:nvSpPr>
        <p:spPr>
          <a:xfrm>
            <a:off x="566928" y="5907024"/>
            <a:ext cx="3657600" cy="457200"/>
          </a:xfrm>
          <a:prstGeom prst="roundRect">
            <a:avLst>
              <a:gd name="adj" fmla="val 50000"/>
            </a:avLst>
          </a:prstGeom>
          <a:solidFill>
            <a:srgbClr val="2E9B3E"/>
          </a:solidFill>
          <a:ln/>
        </p:spPr>
      </p:sp>
      <p:sp>
        <p:nvSpPr>
          <p:cNvPr id="10" name="Text 5"/>
          <p:cNvSpPr/>
          <p:nvPr/>
        </p:nvSpPr>
        <p:spPr>
          <a:xfrm>
            <a:off x="640080" y="5907024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Вердикт: гипотеза подтверждена</a:t>
            </a:r>
            <a:endParaRPr lang="en-US" sz="1700" dirty="0"/>
          </a:p>
        </p:txBody>
      </p:sp>
      <p:sp>
        <p:nvSpPr>
          <p:cNvPr id="11" name="Shape 6"/>
          <p:cNvSpPr/>
          <p:nvPr/>
        </p:nvSpPr>
        <p:spPr>
          <a:xfrm>
            <a:off x="7830007" y="914400"/>
            <a:ext cx="3931920" cy="5513832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9050">
            <a:solidFill>
              <a:srgbClr val="2E9B3E"/>
            </a:solidFill>
            <a:prstDash val="solid"/>
          </a:ln>
          <a:effectLst>
            <a:outerShdw sx="100000" sy="100000" kx="0" ky="0" algn="bl" rotWithShape="0" blurRad="114300" dist="25400" dir="5400000">
              <a:srgbClr val="8AA98C">
                <a:alpha val="28000"/>
              </a:srgbClr>
            </a:outerShdw>
          </a:effectLst>
        </p:spPr>
      </p:sp>
      <p:sp>
        <p:nvSpPr>
          <p:cNvPr id="12" name="Text 7"/>
          <p:cNvSpPr/>
          <p:nvPr/>
        </p:nvSpPr>
        <p:spPr>
          <a:xfrm>
            <a:off x="7967167" y="1024128"/>
            <a:ext cx="3657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1900" dirty="0">
                <a:solidFill>
                  <a:srgbClr val="14315E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Эксперимент №2</a:t>
            </a:r>
            <a:endParaRPr lang="en-US" sz="190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1900" dirty="0">
                <a:solidFill>
                  <a:srgbClr val="14315E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«Исследование адаптации сердца к нагрузкам»</a:t>
            </a:r>
            <a:endParaRPr lang="en-US" sz="1900" dirty="0"/>
          </a:p>
        </p:txBody>
      </p:sp>
      <p:pic>
        <p:nvPicPr>
          <p:cNvPr id="13" name="Image 2" descr="/tmp/claude-0/-home-user-SmartTVControl/c7267815-9774-5a8b-9a9f-04286a1d8dd3/scratchpad/project/out/prepared/v2r/s9_tea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7167" y="1920240"/>
            <a:ext cx="3657600" cy="199948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967167" y="4005072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600" dirty="0">
                <a:solidFill>
                  <a:srgbClr val="1431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Цель: динамический цифровой мониторинг и интерпретация ЭКГ.</a:t>
            </a:r>
            <a:endParaRPr lang="en-US" sz="1600" dirty="0"/>
          </a:p>
          <a:p>
            <a:pPr algn="l" indent="0" marL="0">
              <a:lnSpc>
                <a:spcPct val="96000"/>
              </a:lnSpc>
              <a:buNone/>
            </a:pPr>
            <a:r>
              <a:rPr lang="en-US" sz="1600" dirty="0">
                <a:solidFill>
                  <a:srgbClr val="1431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Успех: лаборатория визуализировала динамическую адаптацию организма — физическая активность вызывает закономерное сокращение кардиоинтервала.</a:t>
            </a:r>
            <a:endParaRPr lang="en-US" sz="1600" dirty="0"/>
          </a:p>
        </p:txBody>
      </p:sp>
      <p:sp>
        <p:nvSpPr>
          <p:cNvPr id="15" name="Shape 9"/>
          <p:cNvSpPr/>
          <p:nvPr/>
        </p:nvSpPr>
        <p:spPr>
          <a:xfrm>
            <a:off x="7967167" y="5907024"/>
            <a:ext cx="3657600" cy="457200"/>
          </a:xfrm>
          <a:prstGeom prst="roundRect">
            <a:avLst>
              <a:gd name="adj" fmla="val 50000"/>
            </a:avLst>
          </a:prstGeom>
          <a:solidFill>
            <a:srgbClr val="2E9B3E"/>
          </a:solidFill>
          <a:ln/>
        </p:spPr>
      </p:sp>
      <p:sp>
        <p:nvSpPr>
          <p:cNvPr id="16" name="Text 10"/>
          <p:cNvSpPr/>
          <p:nvPr/>
        </p:nvSpPr>
        <p:spPr>
          <a:xfrm>
            <a:off x="8040319" y="5907024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Вердикт: гипотеза подтверждена</a:t>
            </a:r>
            <a:endParaRPr lang="en-US" sz="1700" dirty="0"/>
          </a:p>
        </p:txBody>
      </p:sp>
      <p:sp>
        <p:nvSpPr>
          <p:cNvPr id="17" name="Shape 11"/>
          <p:cNvSpPr/>
          <p:nvPr/>
        </p:nvSpPr>
        <p:spPr>
          <a:xfrm>
            <a:off x="4541368" y="914400"/>
            <a:ext cx="3108960" cy="5513832"/>
          </a:xfrm>
          <a:prstGeom prst="roundRect">
            <a:avLst>
              <a:gd name="adj" fmla="val 3529"/>
            </a:avLst>
          </a:prstGeom>
          <a:solidFill>
            <a:srgbClr val="14315E"/>
          </a:solidFill>
          <a:ln w="19050">
            <a:solidFill>
              <a:srgbClr val="14315E"/>
            </a:solidFill>
            <a:prstDash val="solid"/>
          </a:ln>
          <a:effectLst>
            <a:outerShdw sx="100000" sy="100000" kx="0" ky="0" algn="bl" rotWithShape="0" blurRad="114300" dist="25400" dir="5400000">
              <a:srgbClr val="0C1E3A">
                <a:alpha val="28000"/>
              </a:srgbClr>
            </a:outerShdw>
          </a:effectLst>
        </p:spPr>
      </p:sp>
      <p:sp>
        <p:nvSpPr>
          <p:cNvPr id="18" name="Text 12"/>
          <p:cNvSpPr/>
          <p:nvPr/>
        </p:nvSpPr>
        <p:spPr>
          <a:xfrm>
            <a:off x="4724248" y="102412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Математический фундамент</a:t>
            </a:r>
            <a:endParaRPr lang="en-US" sz="1900" dirty="0"/>
          </a:p>
        </p:txBody>
      </p:sp>
      <p:sp>
        <p:nvSpPr>
          <p:cNvPr id="19" name="Shape 13"/>
          <p:cNvSpPr/>
          <p:nvPr/>
        </p:nvSpPr>
        <p:spPr>
          <a:xfrm>
            <a:off x="4724248" y="1700784"/>
            <a:ext cx="274320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4760824" y="1792224"/>
            <a:ext cx="26700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14315E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ЧСС = 60 / Δt</a:t>
            </a:r>
            <a:endParaRPr lang="en-US" sz="2800" dirty="0"/>
          </a:p>
        </p:txBody>
      </p:sp>
      <p:sp>
        <p:nvSpPr>
          <p:cNvPr id="21" name="Text 15"/>
          <p:cNvSpPr/>
          <p:nvPr/>
        </p:nvSpPr>
        <p:spPr>
          <a:xfrm>
            <a:off x="4852264" y="2432304"/>
            <a:ext cx="24871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1400" b="1" dirty="0">
                <a:solidFill>
                  <a:srgbClr val="1E7A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уд./мин, где Δt — интервал R–R в секундах</a:t>
            </a:r>
            <a:endParaRPr lang="en-US" sz="1400" dirty="0"/>
          </a:p>
        </p:txBody>
      </p:sp>
      <p:sp>
        <p:nvSpPr>
          <p:cNvPr id="22" name="Shape 16"/>
          <p:cNvSpPr/>
          <p:nvPr/>
        </p:nvSpPr>
        <p:spPr>
          <a:xfrm>
            <a:off x="4724248" y="3246120"/>
            <a:ext cx="2743200" cy="2377440"/>
          </a:xfrm>
          <a:prstGeom prst="roundRect">
            <a:avLst>
              <a:gd name="adj" fmla="val 4615"/>
            </a:avLst>
          </a:prstGeom>
          <a:solidFill>
            <a:srgbClr val="1D447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5592928" y="3749040"/>
            <a:ext cx="1005840" cy="1005840"/>
          </a:xfrm>
          <a:prstGeom prst="ellipse">
            <a:avLst/>
          </a:prstGeom>
          <a:solidFill>
            <a:srgbClr val="2E9B3E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 rot="5400000">
            <a:off x="5922112" y="4005072"/>
            <a:ext cx="384048" cy="493776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25" name="Text 19"/>
          <p:cNvSpPr/>
          <p:nvPr/>
        </p:nvSpPr>
        <p:spPr>
          <a:xfrm>
            <a:off x="4852264" y="4892040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Видеофрагмент: ребята показывают ход эксперимента и расчёты</a:t>
            </a:r>
            <a:endParaRPr lang="en-US" sz="1400" dirty="0"/>
          </a:p>
        </p:txBody>
      </p:sp>
      <p:sp>
        <p:nvSpPr>
          <p:cNvPr id="26" name="Shape 20"/>
          <p:cNvSpPr/>
          <p:nvPr/>
        </p:nvSpPr>
        <p:spPr>
          <a:xfrm>
            <a:off x="4724248" y="5907024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2E9B3E"/>
          </a:solidFill>
          <a:ln/>
        </p:spPr>
      </p:sp>
      <p:sp>
        <p:nvSpPr>
          <p:cNvPr id="27" name="Text 21"/>
          <p:cNvSpPr/>
          <p:nvPr/>
        </p:nvSpPr>
        <p:spPr>
          <a:xfrm>
            <a:off x="4797400" y="5907024"/>
            <a:ext cx="2596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Цифровая лаборатория «Радуга»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martTVControl/c7267815-9774-5a8b-9a9f-04286a1d8dd3/scratchpad/project/out/prepared/backgrounds/bg_c_spl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29768" y="201168"/>
            <a:ext cx="113321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800" dirty="0">
                <a:solidFill>
                  <a:srgbClr val="14315E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Перспективные направления</a:t>
            </a:r>
            <a:endParaRPr lang="en-US" sz="3800" dirty="0"/>
          </a:p>
        </p:txBody>
      </p:sp>
      <p:sp>
        <p:nvSpPr>
          <p:cNvPr id="5" name="Text 1"/>
          <p:cNvSpPr/>
          <p:nvPr/>
        </p:nvSpPr>
        <p:spPr>
          <a:xfrm>
            <a:off x="429768" y="877824"/>
            <a:ext cx="113321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800" b="1" dirty="0">
                <a:solidFill>
                  <a:srgbClr val="1E7A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 наступающем учебном году в нашей школьной лаборатории мы планируем развивать два перспективных научно-исследовательских вектора</a:t>
            </a:r>
            <a:endParaRPr lang="en-US" sz="1800" dirty="0"/>
          </a:p>
        </p:txBody>
      </p:sp>
      <p:sp>
        <p:nvSpPr>
          <p:cNvPr id="6" name="Shape 2"/>
          <p:cNvSpPr/>
          <p:nvPr/>
        </p:nvSpPr>
        <p:spPr>
          <a:xfrm>
            <a:off x="429768" y="1517904"/>
            <a:ext cx="5528920" cy="4910328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9050">
            <a:solidFill>
              <a:srgbClr val="2E9B3E"/>
            </a:solidFill>
            <a:prstDash val="solid"/>
          </a:ln>
          <a:effectLst>
            <a:outerShdw sx="100000" sy="100000" kx="0" ky="0" algn="bl" rotWithShape="0" blurRad="114300" dist="25400" dir="5400000">
              <a:srgbClr val="8AA98C">
                <a:alpha val="28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576072" y="1645920"/>
            <a:ext cx="5236312" cy="603504"/>
          </a:xfrm>
          <a:prstGeom prst="roundRect">
            <a:avLst>
              <a:gd name="adj" fmla="val 18182"/>
            </a:avLst>
          </a:prstGeom>
          <a:solidFill>
            <a:srgbClr val="2E9B3E"/>
          </a:solidFill>
          <a:ln w="19050">
            <a:solidFill>
              <a:srgbClr val="2E9B3E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67512" y="1645920"/>
            <a:ext cx="5053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Вектор классической биологии (5–7 классы)</a:t>
            </a:r>
            <a:endParaRPr lang="en-US" sz="2100" dirty="0"/>
          </a:p>
        </p:txBody>
      </p:sp>
      <p:sp>
        <p:nvSpPr>
          <p:cNvPr id="9" name="Text 5"/>
          <p:cNvSpPr/>
          <p:nvPr/>
        </p:nvSpPr>
        <p:spPr>
          <a:xfrm>
            <a:off x="612648" y="2304288"/>
            <a:ext cx="516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600" b="1" dirty="0">
                <a:solidFill>
                  <a:srgbClr val="1E7A2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Тема: </a:t>
            </a:r>
            <a:pPr indent="0" marL="0">
              <a:lnSpc>
                <a:spcPct val="96000"/>
              </a:lnSpc>
              <a:buNone/>
            </a:pPr>
            <a:r>
              <a:rPr lang="en-US" sz="1600" dirty="0">
                <a:solidFill>
                  <a:srgbClr val="1431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«Экспериментальное исследование факторов успешной вегетативной репродукции лимонов сортов „Лунарио“ и „Павловский“ с изучением их морфометрических признаков»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612648" y="3218688"/>
            <a:ext cx="5163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600" b="1" dirty="0">
                <a:solidFill>
                  <a:srgbClr val="1E7A2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Направленность: </a:t>
            </a:r>
            <a:pPr indent="0" marL="0">
              <a:lnSpc>
                <a:spcPct val="96000"/>
              </a:lnSpc>
              <a:buNone/>
            </a:pPr>
            <a:r>
              <a:rPr lang="en-US" sz="1600" dirty="0">
                <a:solidFill>
                  <a:srgbClr val="1431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«Сравнительный морфологический анализ, оценка регенерационного потенциала тканей и выявление оптимальных условий экзогенной регуляции ризогенеза»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603504" y="4398264"/>
            <a:ext cx="1499616" cy="1956816"/>
          </a:xfrm>
          <a:prstGeom prst="roundRect">
            <a:avLst>
              <a:gd name="adj" fmla="val 7317"/>
            </a:avLst>
          </a:prstGeom>
          <a:solidFill>
            <a:srgbClr val="14315E"/>
          </a:solidFill>
          <a:ln w="19050">
            <a:solidFill>
              <a:srgbClr val="14315E"/>
            </a:solidFill>
            <a:prstDash val="solid"/>
          </a:ln>
        </p:spPr>
      </p:sp>
      <p:pic>
        <p:nvPicPr>
          <p:cNvPr id="12" name="Image 1" descr="/tmp/claude-0/-home-user-SmartTVControl/c7267815-9774-5a8b-9a9f-04286a1d8dd3/scratchpad/project/out/prepared/v2r/s10_limon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4462272"/>
            <a:ext cx="1371600" cy="18288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258568" y="4498848"/>
            <a:ext cx="3517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1400" b="1" dirty="0">
                <a:solidFill>
                  <a:srgbClr val="1431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Маточные кустики сортовых лимонов «Лунарио» и «Павловский» (для экспериментов)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2258568" y="5596128"/>
            <a:ext cx="2194560" cy="438912"/>
          </a:xfrm>
          <a:prstGeom prst="roundRect">
            <a:avLst>
              <a:gd name="adj" fmla="val 50000"/>
            </a:avLst>
          </a:prstGeom>
          <a:solidFill>
            <a:srgbClr val="2E9B3E"/>
          </a:solidFill>
          <a:ln/>
        </p:spPr>
      </p:sp>
      <p:sp>
        <p:nvSpPr>
          <p:cNvPr id="15" name="Text 10"/>
          <p:cNvSpPr/>
          <p:nvPr/>
        </p:nvSpPr>
        <p:spPr>
          <a:xfrm>
            <a:off x="2331720" y="5596128"/>
            <a:ext cx="20482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5–7 классы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233008" y="1517904"/>
            <a:ext cx="5528920" cy="4910328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9050">
            <a:solidFill>
              <a:srgbClr val="14315E"/>
            </a:solidFill>
            <a:prstDash val="solid"/>
          </a:ln>
          <a:effectLst>
            <a:outerShdw sx="100000" sy="100000" kx="0" ky="0" algn="bl" rotWithShape="0" blurRad="114300" dist="25400" dir="5400000">
              <a:srgbClr val="8AA98C">
                <a:alpha val="2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379312" y="1645920"/>
            <a:ext cx="5236312" cy="603504"/>
          </a:xfrm>
          <a:prstGeom prst="roundRect">
            <a:avLst>
              <a:gd name="adj" fmla="val 18182"/>
            </a:avLst>
          </a:prstGeom>
          <a:solidFill>
            <a:srgbClr val="14315E"/>
          </a:solidFill>
          <a:ln w="19050">
            <a:solidFill>
              <a:srgbClr val="14315E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6470752" y="1645920"/>
            <a:ext cx="5053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Вектор Data Science и биомедицины (9–11 классы)</a:t>
            </a:r>
            <a:endParaRPr lang="en-US" sz="2100" dirty="0"/>
          </a:p>
        </p:txBody>
      </p:sp>
      <p:sp>
        <p:nvSpPr>
          <p:cNvPr id="19" name="Text 14"/>
          <p:cNvSpPr/>
          <p:nvPr/>
        </p:nvSpPr>
        <p:spPr>
          <a:xfrm>
            <a:off x="6415888" y="2359152"/>
            <a:ext cx="516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600" b="1" dirty="0">
                <a:solidFill>
                  <a:srgbClr val="14315E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Тема: </a:t>
            </a:r>
            <a:pPr indent="0" marL="0">
              <a:lnSpc>
                <a:spcPct val="96000"/>
              </a:lnSpc>
              <a:buNone/>
            </a:pPr>
            <a:r>
              <a:rPr lang="en-US" sz="1600" dirty="0">
                <a:solidFill>
                  <a:srgbClr val="1431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«От цифры к микромиру: нейросенсорное восприятие биологических данных и статистический анализ (t-критерий Стьюдента / U-критерий Манна — Уитни) в школьной лаборатории „БиоЛаб“»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6415888" y="3621024"/>
            <a:ext cx="51631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600" b="1" dirty="0">
                <a:solidFill>
                  <a:srgbClr val="14315E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Направленность: </a:t>
            </a:r>
            <a:pPr indent="0" marL="0">
              <a:lnSpc>
                <a:spcPct val="96000"/>
              </a:lnSpc>
              <a:buNone/>
            </a:pPr>
            <a:r>
              <a:rPr lang="en-US" sz="1600" dirty="0">
                <a:solidFill>
                  <a:srgbClr val="1431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интеграция цифровой лаборатории «Радуга», проектов гражданской науки и методов математической статистики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415888" y="4553712"/>
            <a:ext cx="2490140" cy="530352"/>
          </a:xfrm>
          <a:prstGeom prst="roundRect">
            <a:avLst>
              <a:gd name="adj" fmla="val 50000"/>
            </a:avLst>
          </a:prstGeom>
          <a:solidFill>
            <a:srgbClr val="14315E"/>
          </a:solidFill>
          <a:ln/>
        </p:spPr>
      </p:sp>
      <p:sp>
        <p:nvSpPr>
          <p:cNvPr id="22" name="Text 17"/>
          <p:cNvSpPr/>
          <p:nvPr/>
        </p:nvSpPr>
        <p:spPr>
          <a:xfrm>
            <a:off x="6489040" y="4553712"/>
            <a:ext cx="23438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t-критерий Стьюдента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9088907" y="4553712"/>
            <a:ext cx="2490140" cy="530352"/>
          </a:xfrm>
          <a:prstGeom prst="roundRect">
            <a:avLst>
              <a:gd name="adj" fmla="val 50000"/>
            </a:avLst>
          </a:prstGeom>
          <a:solidFill>
            <a:srgbClr val="2E9B3E"/>
          </a:solidFill>
          <a:ln/>
        </p:spPr>
      </p:sp>
      <p:sp>
        <p:nvSpPr>
          <p:cNvPr id="24" name="Text 19"/>
          <p:cNvSpPr/>
          <p:nvPr/>
        </p:nvSpPr>
        <p:spPr>
          <a:xfrm>
            <a:off x="9162059" y="4553712"/>
            <a:ext cx="23438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U-критерий Манна — Уитни</a:t>
            </a:r>
            <a:endParaRPr lang="en-US" sz="1500" dirty="0"/>
          </a:p>
        </p:txBody>
      </p:sp>
      <p:sp>
        <p:nvSpPr>
          <p:cNvPr id="25" name="Shape 20"/>
          <p:cNvSpPr/>
          <p:nvPr/>
        </p:nvSpPr>
        <p:spPr>
          <a:xfrm>
            <a:off x="6415888" y="5157216"/>
            <a:ext cx="2490140" cy="530352"/>
          </a:xfrm>
          <a:prstGeom prst="roundRect">
            <a:avLst>
              <a:gd name="adj" fmla="val 50000"/>
            </a:avLst>
          </a:prstGeom>
          <a:solidFill>
            <a:srgbClr val="14315E"/>
          </a:solidFill>
          <a:ln/>
        </p:spPr>
      </p:sp>
      <p:sp>
        <p:nvSpPr>
          <p:cNvPr id="26" name="Text 21"/>
          <p:cNvSpPr/>
          <p:nvPr/>
        </p:nvSpPr>
        <p:spPr>
          <a:xfrm>
            <a:off x="6489040" y="5157216"/>
            <a:ext cx="23438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Цифровая лаборатория «Радуга»</a:t>
            </a:r>
            <a:endParaRPr lang="en-US" sz="1500" dirty="0"/>
          </a:p>
        </p:txBody>
      </p:sp>
      <p:sp>
        <p:nvSpPr>
          <p:cNvPr id="27" name="Shape 22"/>
          <p:cNvSpPr/>
          <p:nvPr/>
        </p:nvSpPr>
        <p:spPr>
          <a:xfrm>
            <a:off x="9088907" y="5157216"/>
            <a:ext cx="2490140" cy="530352"/>
          </a:xfrm>
          <a:prstGeom prst="roundRect">
            <a:avLst>
              <a:gd name="adj" fmla="val 50000"/>
            </a:avLst>
          </a:prstGeom>
          <a:solidFill>
            <a:srgbClr val="2E9B3E"/>
          </a:solidFill>
          <a:ln/>
        </p:spPr>
      </p:sp>
      <p:sp>
        <p:nvSpPr>
          <p:cNvPr id="28" name="Text 23"/>
          <p:cNvSpPr/>
          <p:nvPr/>
        </p:nvSpPr>
        <p:spPr>
          <a:xfrm>
            <a:off x="9162059" y="5157216"/>
            <a:ext cx="23438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Проекты гражданской науки</a:t>
            </a:r>
            <a:endParaRPr lang="en-US" sz="1500" dirty="0"/>
          </a:p>
        </p:txBody>
      </p:sp>
      <p:sp>
        <p:nvSpPr>
          <p:cNvPr id="29" name="Shape 24"/>
          <p:cNvSpPr/>
          <p:nvPr/>
        </p:nvSpPr>
        <p:spPr>
          <a:xfrm>
            <a:off x="6415888" y="5742432"/>
            <a:ext cx="5163160" cy="621792"/>
          </a:xfrm>
          <a:prstGeom prst="roundRect">
            <a:avLst>
              <a:gd name="adj" fmla="val 17647"/>
            </a:avLst>
          </a:prstGeom>
          <a:solidFill>
            <a:srgbClr val="F3FAEE"/>
          </a:solidFill>
          <a:ln w="19050">
            <a:solidFill>
              <a:srgbClr val="2E9B3E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6507328" y="5742432"/>
            <a:ext cx="498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1700" dirty="0">
                <a:solidFill>
                  <a:srgbClr val="1E7A2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Доказательный анализ результатов прямо в школьной лаборатории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martTVControl/c7267815-9774-5a8b-9a9f-04286a1d8dd3/scratchpad/project/out/prepared/backgrounds/bg_c_f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1" descr="/tmp/claude-0/-home-user-SmartTVControl/c7267815-9774-5a8b-9a9f-04286a1d8dd3/scratchpad/project/out/prepared/v2/s11_docs_fan_1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1188720"/>
            <a:ext cx="9326880" cy="446913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429768" y="201168"/>
            <a:ext cx="113321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800" dirty="0">
                <a:solidFill>
                  <a:srgbClr val="14315E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Общие выводы</a:t>
            </a:r>
            <a:endParaRPr lang="en-US" sz="3800" dirty="0"/>
          </a:p>
        </p:txBody>
      </p:sp>
      <p:sp>
        <p:nvSpPr>
          <p:cNvPr id="6" name="Shape 1"/>
          <p:cNvSpPr/>
          <p:nvPr/>
        </p:nvSpPr>
        <p:spPr>
          <a:xfrm>
            <a:off x="429768" y="914400"/>
            <a:ext cx="3594506" cy="2615184"/>
          </a:xfrm>
          <a:prstGeom prst="roundRect">
            <a:avLst>
              <a:gd name="adj" fmla="val 4196"/>
            </a:avLst>
          </a:prstGeom>
          <a:solidFill>
            <a:srgbClr val="FFFFFF"/>
          </a:solidFill>
          <a:ln w="19050">
            <a:solidFill>
              <a:srgbClr val="2E9B3E"/>
            </a:solidFill>
            <a:prstDash val="solid"/>
          </a:ln>
          <a:effectLst>
            <a:outerShdw sx="100000" sy="100000" kx="0" ky="0" algn="bl" rotWithShape="0" blurRad="114300" dist="25400" dir="5400000">
              <a:srgbClr val="8AA98C">
                <a:alpha val="28000"/>
              </a:srgbClr>
            </a:outerShdw>
          </a:effectLst>
        </p:spPr>
      </p:sp>
      <p:sp>
        <p:nvSpPr>
          <p:cNvPr id="7" name="Shape 2"/>
          <p:cNvSpPr/>
          <p:nvPr/>
        </p:nvSpPr>
        <p:spPr>
          <a:xfrm>
            <a:off x="594360" y="1042416"/>
            <a:ext cx="493776" cy="493776"/>
          </a:xfrm>
          <a:prstGeom prst="ellipse">
            <a:avLst/>
          </a:prstGeom>
          <a:solidFill>
            <a:srgbClr val="2E9B3E"/>
          </a:solidFill>
          <a:ln/>
        </p:spPr>
      </p:sp>
      <p:sp>
        <p:nvSpPr>
          <p:cNvPr id="8" name="Text 3"/>
          <p:cNvSpPr/>
          <p:nvPr/>
        </p:nvSpPr>
        <p:spPr>
          <a:xfrm>
            <a:off x="594360" y="104241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4"/>
          <p:cNvSpPr/>
          <p:nvPr/>
        </p:nvSpPr>
        <p:spPr>
          <a:xfrm>
            <a:off x="1197864" y="1024128"/>
            <a:ext cx="26618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1800" dirty="0">
                <a:solidFill>
                  <a:srgbClr val="1E7A2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Эффективность проектных лифтов</a:t>
            </a:r>
            <a:endParaRPr lang="en-US" sz="1800" dirty="0"/>
          </a:p>
        </p:txBody>
      </p:sp>
      <p:sp>
        <p:nvSpPr>
          <p:cNvPr id="10" name="Text 5"/>
          <p:cNvSpPr/>
          <p:nvPr/>
        </p:nvSpPr>
        <p:spPr>
          <a:xfrm>
            <a:off x="612648" y="1773936"/>
            <a:ext cx="322874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600" dirty="0">
                <a:solidFill>
                  <a:srgbClr val="1431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успешное участие в конкурсах уровня «Большой Перемены» служит мощным стартовым фундаментом для создания инновационной инфраструктуры внутри обычной школы</a:t>
            </a:r>
            <a:endParaRPr lang="en-US" sz="1600" dirty="0"/>
          </a:p>
        </p:txBody>
      </p:sp>
      <p:sp>
        <p:nvSpPr>
          <p:cNvPr id="11" name="Shape 6"/>
          <p:cNvSpPr/>
          <p:nvPr/>
        </p:nvSpPr>
        <p:spPr>
          <a:xfrm>
            <a:off x="4298594" y="914400"/>
            <a:ext cx="3594506" cy="2615184"/>
          </a:xfrm>
          <a:prstGeom prst="roundRect">
            <a:avLst>
              <a:gd name="adj" fmla="val 4196"/>
            </a:avLst>
          </a:prstGeom>
          <a:solidFill>
            <a:srgbClr val="FFFFFF"/>
          </a:solidFill>
          <a:ln w="19050">
            <a:solidFill>
              <a:srgbClr val="2E9B3E"/>
            </a:solidFill>
            <a:prstDash val="solid"/>
          </a:ln>
          <a:effectLst>
            <a:outerShdw sx="100000" sy="100000" kx="0" ky="0" algn="bl" rotWithShape="0" blurRad="114300" dist="25400" dir="5400000">
              <a:srgbClr val="8AA98C">
                <a:alpha val="28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4463186" y="1042416"/>
            <a:ext cx="493776" cy="493776"/>
          </a:xfrm>
          <a:prstGeom prst="ellipse">
            <a:avLst/>
          </a:prstGeom>
          <a:solidFill>
            <a:srgbClr val="2E9B3E"/>
          </a:solidFill>
          <a:ln/>
        </p:spPr>
      </p:sp>
      <p:sp>
        <p:nvSpPr>
          <p:cNvPr id="13" name="Text 8"/>
          <p:cNvSpPr/>
          <p:nvPr/>
        </p:nvSpPr>
        <p:spPr>
          <a:xfrm>
            <a:off x="4463186" y="104241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5066690" y="1024128"/>
            <a:ext cx="26618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1800" dirty="0">
                <a:solidFill>
                  <a:srgbClr val="1E7A2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Переход к доказательной науке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4481474" y="1773936"/>
            <a:ext cx="322874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600" dirty="0">
                <a:solidFill>
                  <a:srgbClr val="1431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использование цифровых лабораторий переводит уроки биологии в плоскость доказательной науки, наглядно визуализируя скрытые физиологические процессы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8167421" y="914400"/>
            <a:ext cx="3594506" cy="2615184"/>
          </a:xfrm>
          <a:prstGeom prst="roundRect">
            <a:avLst>
              <a:gd name="adj" fmla="val 4196"/>
            </a:avLst>
          </a:prstGeom>
          <a:solidFill>
            <a:srgbClr val="FFFFFF"/>
          </a:solidFill>
          <a:ln w="19050">
            <a:solidFill>
              <a:srgbClr val="2E9B3E"/>
            </a:solidFill>
            <a:prstDash val="solid"/>
          </a:ln>
          <a:effectLst>
            <a:outerShdw sx="100000" sy="100000" kx="0" ky="0" algn="bl" rotWithShape="0" blurRad="114300" dist="25400" dir="5400000">
              <a:srgbClr val="8AA98C">
                <a:alpha val="2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332013" y="1042416"/>
            <a:ext cx="493776" cy="493776"/>
          </a:xfrm>
          <a:prstGeom prst="ellipse">
            <a:avLst/>
          </a:prstGeom>
          <a:solidFill>
            <a:srgbClr val="2E9B3E"/>
          </a:solidFill>
          <a:ln/>
        </p:spPr>
      </p:sp>
      <p:sp>
        <p:nvSpPr>
          <p:cNvPr id="18" name="Text 13"/>
          <p:cNvSpPr/>
          <p:nvPr/>
        </p:nvSpPr>
        <p:spPr>
          <a:xfrm>
            <a:off x="8332013" y="104241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8935517" y="1024128"/>
            <a:ext cx="26618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1800" dirty="0">
                <a:solidFill>
                  <a:srgbClr val="1E7A2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Метапредметный результат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8350301" y="1773936"/>
            <a:ext cx="322874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600" dirty="0">
                <a:solidFill>
                  <a:srgbClr val="1431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работа с нейролабораторией эффективно формирует у школьников устойчивые hard и soft skills, стирая границы между школьным экспериментом и будущей профессией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429768" y="3657600"/>
            <a:ext cx="4572000" cy="1755648"/>
          </a:xfrm>
          <a:prstGeom prst="roundRect">
            <a:avLst>
              <a:gd name="adj" fmla="val 6250"/>
            </a:avLst>
          </a:prstGeom>
          <a:solidFill>
            <a:srgbClr val="2E9B3E"/>
          </a:solidFill>
          <a:ln w="19050">
            <a:solidFill>
              <a:srgbClr val="2E9B3E"/>
            </a:solidFill>
            <a:prstDash val="solid"/>
          </a:ln>
          <a:effectLst>
            <a:outerShdw sx="100000" sy="100000" kx="0" ky="0" algn="bl" rotWithShape="0" blurRad="114300" dist="25400" dir="5400000">
              <a:srgbClr val="8AA98C">
                <a:alpha val="28000"/>
              </a:srgbClr>
            </a:outerShdw>
          </a:effectLst>
        </p:spPr>
      </p:sp>
      <p:sp>
        <p:nvSpPr>
          <p:cNvPr id="22" name="Text 17"/>
          <p:cNvSpPr/>
          <p:nvPr/>
        </p:nvSpPr>
        <p:spPr>
          <a:xfrm>
            <a:off x="649224" y="3657600"/>
            <a:ext cx="4133088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Победа в конкурсе — это не финал, а стартовая точка к новым возможностям!</a:t>
            </a:r>
            <a:endParaRPr lang="en-US" sz="2400" dirty="0"/>
          </a:p>
        </p:txBody>
      </p:sp>
      <p:sp>
        <p:nvSpPr>
          <p:cNvPr id="23" name="Shape 18"/>
          <p:cNvSpPr/>
          <p:nvPr/>
        </p:nvSpPr>
        <p:spPr>
          <a:xfrm>
            <a:off x="5276088" y="3657600"/>
            <a:ext cx="6485839" cy="1755648"/>
          </a:xfrm>
          <a:prstGeom prst="roundRect">
            <a:avLst>
              <a:gd name="adj" fmla="val 6250"/>
            </a:avLst>
          </a:prstGeom>
          <a:solidFill>
            <a:srgbClr val="14315E"/>
          </a:solidFill>
          <a:ln w="19050">
            <a:solidFill>
              <a:srgbClr val="14315E"/>
            </a:solidFill>
            <a:prstDash val="solid"/>
          </a:ln>
          <a:effectLst>
            <a:outerShdw sx="100000" sy="100000" kx="0" ky="0" algn="bl" rotWithShape="0" blurRad="114300" dist="25400" dir="5400000">
              <a:srgbClr val="0C1E3A">
                <a:alpha val="28000"/>
              </a:srgbClr>
            </a:outerShdw>
          </a:effectLst>
        </p:spPr>
      </p:sp>
      <p:sp>
        <p:nvSpPr>
          <p:cNvPr id="24" name="Text 19"/>
          <p:cNvSpPr/>
          <p:nvPr/>
        </p:nvSpPr>
        <p:spPr>
          <a:xfrm>
            <a:off x="5495544" y="3657600"/>
            <a:ext cx="6046927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Прежде чем сказать вам «Спасибо за внимание!», хочется сказать спасибо администрации школы, коллегам, родителям, ученикам, всем, кто был рядом. Кто вместе с нами радовался нашим достижениям и разделял «горечь поражения». Кто поддерживал, советовал и помогал.</a:t>
            </a:r>
            <a:endParaRPr lang="en-US" sz="1700" dirty="0"/>
          </a:p>
        </p:txBody>
      </p:sp>
      <p:sp>
        <p:nvSpPr>
          <p:cNvPr id="25" name="Text 20"/>
          <p:cNvSpPr/>
          <p:nvPr/>
        </p:nvSpPr>
        <p:spPr>
          <a:xfrm>
            <a:off x="429768" y="5559552"/>
            <a:ext cx="1133215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0" dirty="0">
                <a:solidFill>
                  <a:srgbClr val="14315E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Спасибо за внимание!</a:t>
            </a:r>
            <a:endParaRPr lang="en-US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МБОУ СОШ №12, Вышневолоцкий муниципальный округ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От «Большой Перемены» к нейролаборатории</dc:title>
  <dc:subject>PptxGenJS Presentation</dc:subject>
  <dc:creator>Еременко А.М.</dc:creator>
  <cp:lastModifiedBy>Еременко А.М.</cp:lastModifiedBy>
  <cp:revision>1</cp:revision>
  <dcterms:created xsi:type="dcterms:W3CDTF">2026-08-23T16:17:22Z</dcterms:created>
  <dcterms:modified xsi:type="dcterms:W3CDTF">2026-08-23T16:17:22Z</dcterms:modified>
</cp:coreProperties>
</file>
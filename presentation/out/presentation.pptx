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Меня зовут Еременко Анна Михайловна, я учитель биологии школы №12 Вышневолоцкого муниципального округа. Сегодня я расскажу историю о том, как обычный школьный кабинет биологии за несколько лет вырос в цифровую нейролабораторию. Отправной точкой этого пути стал всероссийский конкурс «Большая Перемена». Это не рассказ про один удачный проект, а про выстроенную систему: конкурс — исследования — грант — собственная лаборатория. И главное — про преемственность: сегодня рядом с одиннадцатиклассниками в лаборатории работают пятиклассники. (~35 сек)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Несколько слов о самом конкурсе, чтобы был понятен масштаб. «Большая Перемена» — это не олимпиада для отличников, а конкурс, где ценят не оценки, а умение решать реальные задачи. Сейчас идёт уже седьмой сезон, и охват участников постоянно расширяется: младшие школьники с первого класса, старшеклассники, студенты колледжей, образовательные организации, детские команды, ребята с ограниченными возможностями здоровья. Четырнадцать направлений позволяют каждому найти своё: от «Сохраняй природу» до «Предпринимай». Наша школа участвует в конкурсе с самого первого сезона, с марта 2020 года. (~35 сек)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первого сезона, с марта 2020 года, наша школа участвует в каждом сезоне «Большой Перемены» — всего в семи. За это время ребята принесли школе четыре победы и два призёрства. Победителями стали трое: Ванесса Жилкина, Александр Гриченко — двукратный победитель, и Алёна Жукова — абсолютный победитель и лауреат первой степени, а также дважды призёр, лауреат второй степени. Обратите внимание: это не разовый успех, а результат, который повторяется из сезона в сезон. Именно призовой фонд и опыт этих ребят стали трамплином к следующему шагу — собственной цифровой нейролаборатории. (~40 сек)
Атрибуция фотографий подтверждена автором 20 августа 2026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Конкурс дал ребятам не только дипломы, но и вкус к настоящей исследовательской работе. Ульяна Коляскина искала продуценты природных антибиотиков в разных типах экосистем — от смешанного леса до прибрежной зоны: отбирала пробы почвы, определяла pH вытяжки, выделяла штаммы и проверяла их антибактериальную активность. Алёна Жукова провела скрининг азотфиксирующих бактерий на способность стимулировать рост растений. Обе работы получили признание за пределами округа: региональный трек «Больших Вызовов» и конференция «Движение вперёд». Отдельно подчеркну: всё это стало возможно потому, что администрация школы активно содействовала — выделяла помещение, время и поддерживала выезды. (~40 сек)
Подписи к фотографиям нейтральные: личности на кадрах отдельно не подтверждались.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Конкурс изменил не только детей — он изменил меня. С 2020 по 2024 год я получила четыре благодарности первого заместителя Руководителя Администрации Президента Российской Федерации Сергея Владиленовича Кириенко — за наставничество победителей «Большой Перемены». Вместе с победами пришло обучение: образовательные программы для наставников в «Мрии» и в «Артеке», курсы повышения квалификации — больше пяти программ. Сегодня я сама работаю в жюри всероссийских метапредметных конференций и веду проектные команды «Всероссийского атласа почвенных микроорганизмов». Наставник, который перестал учиться, перестаёт быть наставником — и это, пожалуй, главное, что дал мне конкурс. (~35 сек)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что получили сами ребята? Прежде всего — исследовательскую логику: научиться ставить гипотезу и честно её проверять; в обеих наших работах гипотезы подтвердились. Второе — работа с данными: цифровые датчики, ЭКГ, кардиограммы, которые надо не просто снять, а суметь интерпретировать. Третье — умение защищать своё: двадцать девятого ноября две тысячи двадцать четвёртого года наши десятиклассницы вышли на муниципальную комиссию и отстояли проект. Четвёртое — команда: на конференции «Теория и практика» диплом первой степени получил каждый участник, а не один докладчик. И пятое, для меня самое важное, — преемственность: пятиклассники-ассистенты уже сегодня работают рядом с десятым классом. (~40 сек)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собственной научной лаборатории в кабинете биологии возникала у нас неоднократно — не хватало оборудования, чтобы ребята выполняли настоящие исследовательские проекты. Точкой отсчёта стал Александр Гриченко: победив в конкурсе «Школьная инициатива», он получил грант. Двадцать девятого ноября две тысячи двадцать четвёртого года десятиклассницы Алёна Жукова и Софья Бондаренко успешно защитили проект перед муниципальной комиссией. На средства гранта была приобретена цифровая нейролаборатория и оборудовано комфортное пространство для исследований — так появилась «БиоЛаб». Отдельно подчеркну: администрация школы оказывала активное содействие на каждом этапе — без этого проект остался бы идеей. (~35 сек)
TODO автору (по желанию): скан документа о победе в конкурсе «Школьная инициатива» — в материалах его нет. Точное официальное название грантового конкурса стоит уточнить.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в «БиоЛаб» работает команда из двенадцати человек: наставник, девять исследователей 10 класса и два ассистента из 5 «Б». Это принципиальный момент: пятиклассники не наблюдают со стороны, а работают рядом со старшими — так выстраивается преемственность поколений. На нейролаборатории выполнены две исследовательские работы: «От сердца к цифре» — регистрация биоэлектрической активности сердца и построение кардиограмм, и «Исследование адаптации сердца к нагрузкам» — цифровой мониторинг и интерпретация ЭКГ в покое, при нагрузке и в фазе восстановления. Гипотезы обеих работ подтвердились. С этими работами команда победила на Всероссийской научно-практической конференции «Теория и практика» — диплом I степени получил каждый участник. ДАЛЕЕ ДЕМОНСТРИРУЕТСЯ ВИДЕОФРАГМЕНТ: ребята сами показывают этапы исследования и расчёты. (~40 сек + видео)
Расхождение по составу: на исходном слайде учеников было 10 фамилий (с Владимировой Дианой), в выверенных фактах — 9. Взят вариант выверенных фактов.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Лаборатория даёт нам два вектора развития — и они рассчитаны на разный возраст. Первый: классическая биология для 5–7 классов, проект по экспериментальному исследованию факторов успешной вегетативной репродукции лимонов сортов «Лунарио» и «Павловский» в условиях школьной лаборатории — это методы классического биологического эксперимента, фенологические наблюдения и морфометрия. Второй: Data Science и биомедицина для 9–11 классов, проект «От цифры к микромиру: нейросенсорное восприятие биологических данных и статистический анализ в школьной лаборатории „БиоЛаб“» — с обработкой результатов через t-критерий Стьюдента и U-критерий Манна–Уитни. Здесь встречаются нейротехнологии, гражданская наука и математическая обработка данных. Младшие приходят в лабораторию через наблюдение и эксперимент, старшие — через цифру и статистику, и это одна непрерывная траектория. (~40 сек)
Фото лимона — иллюстрация из Wikimedia Commons (автор Milan Suvajac, лицензия CC BY-SA 4.0), собственных кадров по этому направлению пока нет. Схема справа нарисована, это не реальные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вывод нашего пути такой: конкурс — это не финал, а стартовая точка. Мы начинали с кейсовых заданий «Большой Перемены» в обычном кабинете биологии, а сегодня у нас работает цифровая нейролаборатория «БиоЛаб», где рядом со старшеклассниками исследования ведут пятиклассники. Одна детская инициатива, поддержанная школой, превращается в образовательную среду для десятков ребят. Спасибо за внимание — готова ответить на вопросы. (~30 сек)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служебный: держу его скрытым и открываю только если из зала спросят про состав команды, конкретное оборудование или подтверждающие документы. Полный список дипломов и благодарностей не выношу в основной доклад намеренно — он ломает темп. Если вопросов не будет, презентация заканчивается на слайде 10. Дипломы «Большие Вызовы», «Экопоколение» и «Многоликая Россия» уже показаны на слайде 6 и здесь не дублируются.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Муниципальное бюджетное общеобразовательное учреждение средняя общеобразовательная школа №12</a:t>
            </a:r>
            <a:endParaRPr lang="en-US" sz="1250" dirty="0"/>
          </a:p>
        </p:txBody>
      </p:sp>
      <p:pic>
        <p:nvPicPr>
          <p:cNvPr id="3" name="Image 0" descr="/tmp/claude-0/-home-user-SmartTVControl/c7267815-9774-5a8b-9a9f-04286a1d8dd3/scratchpad/project/out/prepared/build/logo_b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37744"/>
            <a:ext cx="1484071" cy="730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" y="1170432"/>
            <a:ext cx="109728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«Большой Перемены»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</a:t>
            </a:r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нейролаборатории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29768" y="3035808"/>
            <a:ext cx="6263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Эффективные практики в решении метапредметных задач: от теории к практике. Как школьные инициативы трансформируются в высокотехнологичную образовательную среду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221224"/>
            <a:ext cx="274320" cy="274320"/>
          </a:xfrm>
          <a:prstGeom prst="ellipse">
            <a:avLst/>
          </a:prstGeom>
          <a:solidFill>
            <a:srgbClr val="E11E4F"/>
          </a:solidFill>
          <a:ln/>
        </p:spPr>
      </p:sp>
      <p:sp>
        <p:nvSpPr>
          <p:cNvPr id="7" name="Shape 4"/>
          <p:cNvSpPr/>
          <p:nvPr/>
        </p:nvSpPr>
        <p:spPr>
          <a:xfrm>
            <a:off x="969264" y="5330952"/>
            <a:ext cx="164592" cy="164592"/>
          </a:xfrm>
          <a:prstGeom prst="ellipse">
            <a:avLst/>
          </a:prstGeom>
          <a:solidFill>
            <a:srgbClr val="25ADE4"/>
          </a:solidFill>
          <a:ln/>
        </p:spPr>
      </p:sp>
      <p:sp>
        <p:nvSpPr>
          <p:cNvPr id="8" name="Shape 5"/>
          <p:cNvSpPr/>
          <p:nvPr/>
        </p:nvSpPr>
        <p:spPr>
          <a:xfrm>
            <a:off x="1280160" y="5394960"/>
            <a:ext cx="100584" cy="100584"/>
          </a:xfrm>
          <a:prstGeom prst="ellipse">
            <a:avLst/>
          </a:prstGeom>
          <a:solidFill>
            <a:srgbClr val="2B549E"/>
          </a:solidFill>
          <a:ln/>
        </p:spPr>
      </p:sp>
      <p:pic>
        <p:nvPicPr>
          <p:cNvPr id="9" name="Image 1" descr="/tmp/claude-0/-home-user-SmartTVControl/c7267815-9774-5a8b-9a9f-04286a1d8dd3/scratchpad/project/out/prepared/build/s1_schoo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199" y="2907792"/>
            <a:ext cx="4681728" cy="25913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0" y="5687568"/>
            <a:ext cx="59097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А.М., учитель биологии МБОУ СОШ №12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9768" y="6108192"/>
            <a:ext cx="11332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Вышневолоцкий муниципальный округ, 2026 год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Экосистема конкурса «Большая Перемена»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051560"/>
            <a:ext cx="3063240" cy="30175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" y="143560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600" dirty="0"/>
          </a:p>
        </p:txBody>
      </p:sp>
      <p:sp>
        <p:nvSpPr>
          <p:cNvPr id="5" name="Text 3"/>
          <p:cNvSpPr/>
          <p:nvPr/>
        </p:nvSpPr>
        <p:spPr>
          <a:xfrm>
            <a:off x="429768" y="27157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сезон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2648" y="31912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участвуем с марта 2020 года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67328" y="1051560"/>
            <a:ext cx="7994599" cy="1645920"/>
          </a:xfrm>
          <a:prstGeom prst="roundRect">
            <a:avLst>
              <a:gd name="adj" fmla="val 6111"/>
            </a:avLst>
          </a:prstGeom>
          <a:solidFill>
            <a:srgbClr val="2B549E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051560"/>
            <a:ext cx="7482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всех категорий</a:t>
            </a:r>
            <a:endParaRPr lang="en-US" sz="18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E4EA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ученики 1–4 и 5–7 классов, старшеклассники и студенты СПО, иностранные граждане, образовательные организации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67328" y="2880360"/>
            <a:ext cx="7994599" cy="1188720"/>
          </a:xfrm>
          <a:prstGeom prst="roundRect">
            <a:avLst>
              <a:gd name="adj" fmla="val 8462"/>
            </a:avLst>
          </a:prstGeom>
          <a:solidFill>
            <a:srgbClr val="25ADE4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880360"/>
            <a:ext cx="7482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Новые группы участников</a:t>
            </a:r>
            <a:endParaRPr lang="en-US" sz="18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EAF7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детские команды, дети с ограниченными возможностями здоровья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" y="4343400"/>
            <a:ext cx="11332159" cy="2084832"/>
          </a:xfrm>
          <a:prstGeom prst="roundRect">
            <a:avLst>
              <a:gd name="adj" fmla="val 482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90872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Интересно каждому: 14 направлений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5349240"/>
            <a:ext cx="2453564" cy="731520"/>
          </a:xfrm>
          <a:prstGeom prst="roundRect">
            <a:avLst>
              <a:gd name="adj" fmla="val 50000"/>
            </a:avLst>
          </a:prstGeom>
          <a:solidFill>
            <a:srgbClr val="E11E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49240"/>
            <a:ext cx="24535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Твори!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05124" y="5349240"/>
            <a:ext cx="2453564" cy="731520"/>
          </a:xfrm>
          <a:prstGeom prst="roundRect">
            <a:avLst>
              <a:gd name="adj" fmla="val 50000"/>
            </a:avLst>
          </a:prstGeom>
          <a:solidFill>
            <a:srgbClr val="25ADE4"/>
          </a:solidFill>
          <a:ln/>
        </p:spPr>
      </p:sp>
      <p:sp>
        <p:nvSpPr>
          <p:cNvPr id="16" name="Text 14"/>
          <p:cNvSpPr/>
          <p:nvPr/>
        </p:nvSpPr>
        <p:spPr>
          <a:xfrm>
            <a:off x="3505124" y="5349240"/>
            <a:ext cx="24535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Открывай новое!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33008" y="5349240"/>
            <a:ext cx="2453564" cy="731520"/>
          </a:xfrm>
          <a:prstGeom prst="roundRect">
            <a:avLst>
              <a:gd name="adj" fmla="val 50000"/>
            </a:avLst>
          </a:prstGeom>
          <a:solidFill>
            <a:srgbClr val="2B549E"/>
          </a:solidFill>
          <a:ln/>
        </p:spPr>
      </p:sp>
      <p:sp>
        <p:nvSpPr>
          <p:cNvPr id="18" name="Text 16"/>
          <p:cNvSpPr/>
          <p:nvPr/>
        </p:nvSpPr>
        <p:spPr>
          <a:xfrm>
            <a:off x="6233008" y="5349240"/>
            <a:ext cx="24535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Сохраняй природу!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60891" y="5349240"/>
            <a:ext cx="2453564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0891" y="5349240"/>
            <a:ext cx="24535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…и ещё 11 направлений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кейсовых заданий «Большой Перемены» — к нейролаборатории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463040"/>
            <a:ext cx="5528920" cy="877824"/>
          </a:xfrm>
          <a:prstGeom prst="roundRect">
            <a:avLst>
              <a:gd name="adj" fmla="val 11458"/>
            </a:avLst>
          </a:prstGeom>
          <a:solidFill>
            <a:srgbClr val="2B549E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" y="1463040"/>
            <a:ext cx="552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сезонов с марта 2020 года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33008" y="1463040"/>
            <a:ext cx="5528920" cy="877824"/>
          </a:xfrm>
          <a:prstGeom prst="roundRect">
            <a:avLst>
              <a:gd name="adj" fmla="val 11458"/>
            </a:avLst>
          </a:prstGeom>
          <a:solidFill>
            <a:srgbClr val="E11E4F"/>
          </a:solidFill>
          <a:ln/>
        </p:spPr>
      </p:sp>
      <p:sp>
        <p:nvSpPr>
          <p:cNvPr id="6" name="Text 4"/>
          <p:cNvSpPr/>
          <p:nvPr/>
        </p:nvSpPr>
        <p:spPr>
          <a:xfrm>
            <a:off x="6233008" y="1463040"/>
            <a:ext cx="552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победы</a:t>
            </a:r>
            <a:pPr algn="ctr" indent="0" marL="0">
              <a:buNone/>
            </a:pPr>
            <a:r>
              <a:rPr lang="en-US" sz="1700" dirty="0">
                <a:solidFill>
                  <a:srgbClr val="F7C3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призёрства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29768" y="2560320"/>
            <a:ext cx="3594506" cy="3867912"/>
          </a:xfrm>
          <a:prstGeom prst="roundRect">
            <a:avLst>
              <a:gd name="adj" fmla="val 279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C0">
                <a:alpha val="22000"/>
              </a:srgbClr>
            </a:outerShdw>
          </a:effectLst>
        </p:spPr>
      </p:sp>
      <p:pic>
        <p:nvPicPr>
          <p:cNvPr id="8" name="Image 0" descr="/tmp/claude-0/-home-user-SmartTVControl/c7267815-9774-5a8b-9a9f-04286a1d8dd3/scratchpad/project/out/prepared/build/s3_zhilki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485" y="2743200"/>
            <a:ext cx="1719072" cy="2292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" y="5148072"/>
            <a:ext cx="3045866" cy="310896"/>
          </a:xfrm>
          <a:prstGeom prst="roundRect">
            <a:avLst>
              <a:gd name="adj" fmla="val 50000"/>
            </a:avLst>
          </a:prstGeom>
          <a:solidFill>
            <a:srgbClr val="25ADE4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514807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5495544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Жилкина Ванесса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66928" y="5897880"/>
            <a:ext cx="33201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 «Большой Перемены»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8594" y="2560320"/>
            <a:ext cx="3594506" cy="3867912"/>
          </a:xfrm>
          <a:prstGeom prst="roundRect">
            <a:avLst>
              <a:gd name="adj" fmla="val 279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C0">
                <a:alpha val="22000"/>
              </a:srgbClr>
            </a:outerShdw>
          </a:effectLst>
        </p:spPr>
      </p:sp>
      <p:pic>
        <p:nvPicPr>
          <p:cNvPr id="14" name="Image 1" descr="/tmp/claude-0/-home-user-SmartTVControl/c7267815-9774-5a8b-9a9f-04286a1d8dd3/scratchpad/project/out/prepared/build/s3_grichenk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312" y="2743200"/>
            <a:ext cx="1719072" cy="228990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72914" y="5148072"/>
            <a:ext cx="3045866" cy="310896"/>
          </a:xfrm>
          <a:prstGeom prst="roundRect">
            <a:avLst>
              <a:gd name="adj" fmla="val 50000"/>
            </a:avLst>
          </a:prstGeom>
          <a:solidFill>
            <a:srgbClr val="2B549E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914" y="514807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ДВУКРАТНЫЙ ПОБЕДИТЕЛЬ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35754" y="5495544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Гриченко Александр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435754" y="5897880"/>
            <a:ext cx="33201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победы «Большой Перемены»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67421" y="2560320"/>
            <a:ext cx="3594506" cy="3867912"/>
          </a:xfrm>
          <a:prstGeom prst="roundRect">
            <a:avLst>
              <a:gd name="adj" fmla="val 2798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C0">
                <a:alpha val="22000"/>
              </a:srgbClr>
            </a:outerShdw>
          </a:effectLst>
        </p:spPr>
      </p:sp>
      <p:pic>
        <p:nvPicPr>
          <p:cNvPr id="20" name="Image 2" descr="/tmp/claude-0/-home-user-SmartTVControl/c7267815-9774-5a8b-9a9f-04286a1d8dd3/scratchpad/project/out/prepared/build/s3_zhukov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138" y="2743200"/>
            <a:ext cx="1719072" cy="229209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41741" y="5148072"/>
            <a:ext cx="3045866" cy="310896"/>
          </a:xfrm>
          <a:prstGeom prst="roundRect">
            <a:avLst>
              <a:gd name="adj" fmla="val 50000"/>
            </a:avLst>
          </a:prstGeom>
          <a:solidFill>
            <a:srgbClr val="E11E4F"/>
          </a:solidFill>
          <a:ln/>
        </p:spPr>
      </p:sp>
      <p:sp>
        <p:nvSpPr>
          <p:cNvPr id="22" name="Text 17"/>
          <p:cNvSpPr/>
          <p:nvPr/>
        </p:nvSpPr>
        <p:spPr>
          <a:xfrm>
            <a:off x="8441741" y="514807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АБСОЛЮТНЫЙ ПОБЕДИТЕЛЬ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04581" y="5495544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Жукова Алёна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304581" y="5897880"/>
            <a:ext cx="33201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лауреат I степени,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двукратный призёр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Наука в школе: исследования учеников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48" y="1051560"/>
            <a:ext cx="0" cy="4764024"/>
          </a:xfrm>
          <a:prstGeom prst="line">
            <a:avLst/>
          </a:prstGeom>
          <a:noFill/>
          <a:ln w="12700">
            <a:solidFill>
              <a:srgbClr val="25A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1051560"/>
            <a:ext cx="5437480" cy="512064"/>
          </a:xfrm>
          <a:prstGeom prst="roundRect">
            <a:avLst>
              <a:gd name="adj" fmla="val 19643"/>
            </a:avLst>
          </a:prstGeom>
          <a:solidFill>
            <a:srgbClr val="2B549E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051560"/>
            <a:ext cx="496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Коляскина Ульяна</a:t>
            </a:r>
            <a:endParaRPr lang="en-US" sz="2000" dirty="0"/>
          </a:p>
        </p:txBody>
      </p:sp>
      <p:pic>
        <p:nvPicPr>
          <p:cNvPr id="6" name="Image 0" descr="/tmp/claude-0/-home-user-SmartTVControl/c7267815-9774-5a8b-9a9f-04286a1d8dd3/scratchpad/project/out/prepared/build/s4_kol_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746504"/>
            <a:ext cx="3063240" cy="2297430"/>
          </a:xfrm>
          <a:prstGeom prst="rect">
            <a:avLst/>
          </a:prstGeom>
        </p:spPr>
      </p:pic>
      <p:pic>
        <p:nvPicPr>
          <p:cNvPr id="7" name="Image 1" descr="/tmp/claude-0/-home-user-SmartTVControl/c7267815-9774-5a8b-9a9f-04286a1d8dd3/scratchpad/project/out/prepared/build/s4_micro_stre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568" y="1889379"/>
            <a:ext cx="201168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9768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питательных сред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26968" y="4133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Микроскопия Streptomyces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9768" y="4553712"/>
            <a:ext cx="543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Искала продуцентов природных антибиотиков в разных типах экосистем.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" y="5303520"/>
            <a:ext cx="543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Призёр «Больших Вызовов» и НПК «Движение вперёд», 2024 год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324448" y="1051560"/>
            <a:ext cx="5437480" cy="512064"/>
          </a:xfrm>
          <a:prstGeom prst="roundRect">
            <a:avLst>
              <a:gd name="adj" fmla="val 19643"/>
            </a:avLst>
          </a:prstGeom>
          <a:solidFill>
            <a:srgbClr val="E11E4F"/>
          </a:solidFill>
          <a:ln/>
        </p:spPr>
      </p:sp>
      <p:sp>
        <p:nvSpPr>
          <p:cNvPr id="13" name="Text 9"/>
          <p:cNvSpPr/>
          <p:nvPr/>
        </p:nvSpPr>
        <p:spPr>
          <a:xfrm>
            <a:off x="6562192" y="1051560"/>
            <a:ext cx="496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Жукова Алёна</a:t>
            </a:r>
            <a:endParaRPr lang="en-US" sz="2000" dirty="0"/>
          </a:p>
        </p:txBody>
      </p:sp>
      <p:pic>
        <p:nvPicPr>
          <p:cNvPr id="14" name="Image 2" descr="/tmp/claude-0/-home-user-SmartTVControl/c7267815-9774-5a8b-9a9f-04286a1d8dd3/scratchpad/project/out/prepared/build/s4_zhu_mai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8" y="1746504"/>
            <a:ext cx="3063240" cy="2298220"/>
          </a:xfrm>
          <a:prstGeom prst="rect">
            <a:avLst/>
          </a:prstGeom>
        </p:spPr>
      </p:pic>
      <p:pic>
        <p:nvPicPr>
          <p:cNvPr id="15" name="Image 3" descr="/tmp/claude-0/-home-user-SmartTVControl/c7267815-9774-5a8b-9a9f-04286a1d8dd3/scratchpad/project/out/prepared/build/s4_micro_az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247" y="1889774"/>
            <a:ext cx="2011680" cy="20116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24448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с микропрепаратами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9521647" y="4133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Микроскопия Azotobacter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324448" y="4553712"/>
            <a:ext cx="543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Изучала азотфиксирующие бактерии — стимуляторы роста растений.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324448" y="5303520"/>
            <a:ext cx="543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 «Больших Вызовов» и НПК «Движение вперёд», 2023–2025 годы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29768" y="5916168"/>
            <a:ext cx="11332159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21" name="Text 15"/>
          <p:cNvSpPr/>
          <p:nvPr/>
        </p:nvSpPr>
        <p:spPr>
          <a:xfrm>
            <a:off x="429768" y="5916168"/>
            <a:ext cx="113321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Администрация школы оказывала активное содействие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Наставник растёт вместе с учениками</a:t>
            </a:r>
            <a:endParaRPr lang="en-US" sz="3000" dirty="0"/>
          </a:p>
        </p:txBody>
      </p:sp>
      <p:pic>
        <p:nvPicPr>
          <p:cNvPr id="3" name="Image 0" descr="/tmp/claude-0/-home-user-SmartTVControl/c7267815-9774-5a8b-9a9f-04286a1d8dd3/scratchpad/project/out/prepared/build/s5_photo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051560"/>
            <a:ext cx="2377440" cy="1779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" y="29226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А.М., программа наставников «Большой Перемены»</a:t>
            </a:r>
            <a:endParaRPr lang="en-US" sz="1200" dirty="0"/>
          </a:p>
        </p:txBody>
      </p:sp>
      <p:pic>
        <p:nvPicPr>
          <p:cNvPr id="5" name="Image 1" descr="/tmp/claude-0/-home-user-SmartTVControl/c7267815-9774-5a8b-9a9f-04286a1d8dd3/scratchpad/project/out/prepared/build/s5_photo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051560"/>
            <a:ext cx="2377440" cy="1781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81528" y="29226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Групповая работа наставников, «Мрия»</a:t>
            </a:r>
            <a:endParaRPr lang="en-US" sz="1200" dirty="0"/>
          </a:p>
        </p:txBody>
      </p:sp>
      <p:pic>
        <p:nvPicPr>
          <p:cNvPr id="7" name="Image 2" descr="/tmp/claude-0/-home-user-SmartTVControl/c7267815-9774-5a8b-9a9f-04286a1d8dd3/scratchpad/project/out/prepared/build/s5_photo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051560"/>
            <a:ext cx="2377440" cy="1783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33288" y="29226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 наставников #БольшаяПеремена</a:t>
            </a:r>
            <a:endParaRPr lang="en-US" sz="1200" dirty="0"/>
          </a:p>
        </p:txBody>
      </p:sp>
      <p:pic>
        <p:nvPicPr>
          <p:cNvPr id="9" name="Image 3" descr="/tmp/claude-0/-home-user-SmartTVControl/c7267815-9774-5a8b-9a9f-04286a1d8dd3/scratchpad/project/out/prepared/build/s5_gram202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664" y="1051560"/>
            <a:ext cx="1247803" cy="1779604"/>
          </a:xfrm>
          <a:prstGeom prst="rect">
            <a:avLst/>
          </a:prstGeom>
        </p:spPr>
      </p:pic>
      <p:pic>
        <p:nvPicPr>
          <p:cNvPr id="10" name="Image 4" descr="/tmp/claude-0/-home-user-SmartTVControl/c7267815-9774-5a8b-9a9f-04286a1d8dd3/scratchpad/project/out/prepared/build/s5_gram202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786" y="1051560"/>
            <a:ext cx="1239525" cy="177960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385048" y="2922604"/>
            <a:ext cx="3376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Благодарности С.В. Кириенко,</a:t>
            </a:r>
            <a:endParaRPr lang="en-US" sz="12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 и 2024 годы</a:t>
            </a:r>
            <a:endParaRPr lang="en-US" sz="1200" dirty="0"/>
          </a:p>
        </p:txBody>
      </p:sp>
      <p:sp>
        <p:nvSpPr>
          <p:cNvPr id="12" name="Shape 5"/>
          <p:cNvSpPr/>
          <p:nvPr/>
        </p:nvSpPr>
        <p:spPr>
          <a:xfrm>
            <a:off x="429768" y="3749040"/>
            <a:ext cx="2627300" cy="1783080"/>
          </a:xfrm>
          <a:prstGeom prst="roundRect">
            <a:avLst>
              <a:gd name="adj" fmla="val 5641"/>
            </a:avLst>
          </a:prstGeom>
          <a:solidFill>
            <a:srgbClr val="F4F6FB"/>
          </a:solidFill>
          <a:ln/>
        </p:spPr>
      </p:sp>
      <p:sp>
        <p:nvSpPr>
          <p:cNvPr id="13" name="Text 6"/>
          <p:cNvSpPr/>
          <p:nvPr/>
        </p:nvSpPr>
        <p:spPr>
          <a:xfrm>
            <a:off x="630936" y="38587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7"/>
          <p:cNvSpPr/>
          <p:nvPr/>
        </p:nvSpPr>
        <p:spPr>
          <a:xfrm>
            <a:off x="630936" y="4480560"/>
            <a:ext cx="22249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федеральные благодарности С.В. Кириенко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3331388" y="3749040"/>
            <a:ext cx="2627300" cy="1783080"/>
          </a:xfrm>
          <a:prstGeom prst="roundRect">
            <a:avLst>
              <a:gd name="adj" fmla="val 5641"/>
            </a:avLst>
          </a:prstGeom>
          <a:solidFill>
            <a:srgbClr val="F4F6FB"/>
          </a:solidFill>
          <a:ln/>
        </p:spPr>
      </p:sp>
      <p:sp>
        <p:nvSpPr>
          <p:cNvPr id="16" name="Text 9"/>
          <p:cNvSpPr/>
          <p:nvPr/>
        </p:nvSpPr>
        <p:spPr>
          <a:xfrm>
            <a:off x="3532556" y="38587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5+</a:t>
            </a:r>
            <a:endParaRPr lang="en-US" sz="3600" dirty="0"/>
          </a:p>
        </p:txBody>
      </p:sp>
      <p:sp>
        <p:nvSpPr>
          <p:cNvPr id="17" name="Text 10"/>
          <p:cNvSpPr/>
          <p:nvPr/>
        </p:nvSpPr>
        <p:spPr>
          <a:xfrm>
            <a:off x="3532556" y="4480560"/>
            <a:ext cx="22249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 повышения квалификации, «Мрия» и «Артек»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233008" y="3749040"/>
            <a:ext cx="2627300" cy="1783080"/>
          </a:xfrm>
          <a:prstGeom prst="roundRect">
            <a:avLst>
              <a:gd name="adj" fmla="val 5641"/>
            </a:avLst>
          </a:prstGeom>
          <a:solidFill>
            <a:srgbClr val="F4F6FB"/>
          </a:solidFill>
          <a:ln/>
        </p:spPr>
      </p:sp>
      <p:sp>
        <p:nvSpPr>
          <p:cNvPr id="19" name="Text 12"/>
          <p:cNvSpPr/>
          <p:nvPr/>
        </p:nvSpPr>
        <p:spPr>
          <a:xfrm>
            <a:off x="6434176" y="38587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AD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3"/>
          <p:cNvSpPr/>
          <p:nvPr/>
        </p:nvSpPr>
        <p:spPr>
          <a:xfrm>
            <a:off x="6434176" y="4480560"/>
            <a:ext cx="22249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всероссийские конференции, где работала в жюри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9134627" y="3749040"/>
            <a:ext cx="2627300" cy="1783080"/>
          </a:xfrm>
          <a:prstGeom prst="roundRect">
            <a:avLst>
              <a:gd name="adj" fmla="val 5641"/>
            </a:avLst>
          </a:prstGeom>
          <a:solidFill>
            <a:srgbClr val="F4F6FB"/>
          </a:solidFill>
          <a:ln/>
        </p:spPr>
      </p:sp>
      <p:sp>
        <p:nvSpPr>
          <p:cNvPr id="22" name="Text 15"/>
          <p:cNvSpPr/>
          <p:nvPr/>
        </p:nvSpPr>
        <p:spPr>
          <a:xfrm>
            <a:off x="9335795" y="38587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16"/>
          <p:cNvSpPr/>
          <p:nvPr/>
        </p:nvSpPr>
        <p:spPr>
          <a:xfrm>
            <a:off x="9335795" y="4480560"/>
            <a:ext cx="22249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диплома наставника «Атласа почвенных микроорганизмов»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29768" y="5916168"/>
            <a:ext cx="11332159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25" name="Text 18"/>
          <p:cNvSpPr/>
          <p:nvPr/>
        </p:nvSpPr>
        <p:spPr>
          <a:xfrm>
            <a:off x="429768" y="5916168"/>
            <a:ext cx="113321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Почётная грамота Министерства образования Тверской области, 2022 год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конкурс дал ученикам: пять компетенций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051560"/>
            <a:ext cx="7635240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124712"/>
            <a:ext cx="365760" cy="365760"/>
          </a:xfrm>
          <a:prstGeom prst="ellipse">
            <a:avLst/>
          </a:prstGeom>
          <a:solidFill>
            <a:srgbClr val="2B549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88136" y="1051560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Исследовательские навыки</a:t>
            </a:r>
            <a:pPr indent="0" marL="0"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гипотеза и эксперимент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" y="1636776"/>
            <a:ext cx="7635240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709928"/>
            <a:ext cx="365760" cy="365760"/>
          </a:xfrm>
          <a:prstGeom prst="ellipse">
            <a:avLst/>
          </a:prstGeom>
          <a:solidFill>
            <a:srgbClr val="25ADE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88136" y="1636776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с данными</a:t>
            </a:r>
            <a:pPr indent="0" marL="0"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датчики, ЭКГ, кардиограммы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" y="2221992"/>
            <a:ext cx="7635240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295144"/>
            <a:ext cx="365760" cy="365760"/>
          </a:xfrm>
          <a:prstGeom prst="ellipse">
            <a:avLst/>
          </a:prstGeom>
          <a:solidFill>
            <a:srgbClr val="E11E4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8136" y="2221992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Публичная защита</a:t>
            </a:r>
            <a:pPr indent="0" marL="0"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проект перед комиссией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" y="2807208"/>
            <a:ext cx="7635240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880360"/>
            <a:ext cx="365760" cy="365760"/>
          </a:xfrm>
          <a:prstGeom prst="ellipse">
            <a:avLst/>
          </a:prstGeom>
          <a:solidFill>
            <a:srgbClr val="2B549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88136" y="2807208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Командная работа</a:t>
            </a:r>
            <a:pPr indent="0" marL="0"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диплом I степени у каждого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9768" y="3392424"/>
            <a:ext cx="7635240" cy="512064"/>
          </a:xfrm>
          <a:prstGeom prst="roundRect">
            <a:avLst>
              <a:gd name="adj" fmla="val 19643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465576"/>
            <a:ext cx="365760" cy="365760"/>
          </a:xfrm>
          <a:prstGeom prst="ellipse">
            <a:avLst/>
          </a:prstGeom>
          <a:solidFill>
            <a:srgbClr val="E11E4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88136" y="3392424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Преемственность</a:t>
            </a:r>
            <a:pPr indent="0" marL="0"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5 «Б» рядом с 10 классом</a:t>
            </a:r>
            <a:endParaRPr lang="en-US" sz="1800" dirty="0"/>
          </a:p>
        </p:txBody>
      </p:sp>
      <p:pic>
        <p:nvPicPr>
          <p:cNvPr id="23" name="Image 0" descr="/tmp/claude-0/-home-user-SmartTVControl/c7267815-9774-5a8b-9a9f-04286a1d8dd3/scratchpad/project/out/prepared/build/s6_dip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4123944"/>
            <a:ext cx="1200150" cy="1645920"/>
          </a:xfrm>
          <a:prstGeom prst="rect">
            <a:avLst/>
          </a:prstGeom>
        </p:spPr>
      </p:pic>
      <p:pic>
        <p:nvPicPr>
          <p:cNvPr id="24" name="Image 1" descr="/tmp/claude-0/-home-user-SmartTVControl/c7267815-9774-5a8b-9a9f-04286a1d8dd3/scratchpad/project/out/prepared/build/s6_dip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38" y="4123944"/>
            <a:ext cx="1122218" cy="1645920"/>
          </a:xfrm>
          <a:prstGeom prst="rect">
            <a:avLst/>
          </a:prstGeom>
        </p:spPr>
      </p:pic>
      <p:pic>
        <p:nvPicPr>
          <p:cNvPr id="25" name="Image 2" descr="/tmp/claude-0/-home-user-SmartTVControl/c7267815-9774-5a8b-9a9f-04286a1d8dd3/scratchpad/project/out/prepared/build/s6_dip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776" y="4123944"/>
            <a:ext cx="1111393" cy="1645920"/>
          </a:xfrm>
          <a:prstGeom prst="rect">
            <a:avLst/>
          </a:prstGeom>
        </p:spPr>
      </p:pic>
      <p:pic>
        <p:nvPicPr>
          <p:cNvPr id="26" name="Image 3" descr="/tmp/claude-0/-home-user-SmartTVControl/c7267815-9774-5a8b-9a9f-04286a1d8dd3/scratchpad/project/out/prepared/build/s6_dip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489" y="4123944"/>
            <a:ext cx="1208543" cy="1645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29768" y="58155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«Большие Вызовы» — Жукова Алёна и Коляскина Ульяна · «Экопоколение» — Жукова Алёна · «Многоликая Россия» — Елизарова Вероника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…и другие дипломы конкурсов и научно-практических конференций</a:t>
            </a:r>
            <a:endParaRPr lang="en-US" sz="1200" dirty="0"/>
          </a:p>
        </p:txBody>
      </p:sp>
      <p:pic>
        <p:nvPicPr>
          <p:cNvPr id="28" name="Image 4" descr="/tmp/claude-0/-home-user-SmartTVControl/c7267815-9774-5a8b-9a9f-04286a1d8dd3/scratchpad/project/out/prepared/build/s6_liv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051560"/>
            <a:ext cx="3422599" cy="474220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39328" y="5857769"/>
            <a:ext cx="34225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Награждение победителя конкурса «Многоликая Россия», Областная станция юных натуралистов Тверской области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гранта «Школьная инициатива» — к «БиоЛаб»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051560"/>
            <a:ext cx="5532120" cy="160934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618488"/>
            <a:ext cx="475488" cy="475488"/>
          </a:xfrm>
          <a:prstGeom prst="ellipse">
            <a:avLst/>
          </a:prstGeom>
          <a:solidFill>
            <a:srgbClr val="E11E4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051560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Гриченко Александр — победитель конкурса «Школьная инициатива».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" y="2935224"/>
            <a:ext cx="5532120" cy="160934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3502152"/>
            <a:ext cx="475488" cy="475488"/>
          </a:xfrm>
          <a:prstGeom prst="ellipse">
            <a:avLst/>
          </a:prstGeom>
          <a:solidFill>
            <a:srgbClr val="2B549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2935224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· 29 ноября 2024 года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Жукова Алёна и Бондаренко Софья защитили проект перед муниципальной комиссией.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" y="4818888"/>
            <a:ext cx="5532120" cy="1609344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5385816"/>
            <a:ext cx="475488" cy="475488"/>
          </a:xfrm>
          <a:prstGeom prst="ellipse">
            <a:avLst/>
          </a:prstGeom>
          <a:solidFill>
            <a:srgbClr val="25ADE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385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481888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5AD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нейролаборатория и комфортное пространство для исследований — «БиоЛаб».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" y="2660904"/>
            <a:ext cx="0" cy="274320"/>
          </a:xfrm>
          <a:prstGeom prst="line">
            <a:avLst/>
          </a:prstGeom>
          <a:noFill/>
          <a:ln w="25400">
            <a:solidFill>
              <a:srgbClr val="DDE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4544568"/>
            <a:ext cx="0" cy="274320"/>
          </a:xfrm>
          <a:prstGeom prst="line">
            <a:avLst/>
          </a:prstGeom>
          <a:noFill/>
          <a:ln w="25400">
            <a:solidFill>
              <a:srgbClr val="DDE3EF"/>
            </a:solidFill>
            <a:prstDash val="solid"/>
          </a:ln>
        </p:spPr>
      </p:sp>
      <p:pic>
        <p:nvPicPr>
          <p:cNvPr id="17" name="Image 0" descr="/tmp/claude-0/-home-user-SmartTVControl/c7267815-9774-5a8b-9a9f-04286a1d8dd3/scratchpad/project/out/prepared/build/s7_ec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051560"/>
            <a:ext cx="5525719" cy="302187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36208" y="4137446"/>
            <a:ext cx="5525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«БиоЛаб»: цифровая нейролаборатория в работе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36208" y="4617720"/>
            <a:ext cx="5525719" cy="1810512"/>
          </a:xfrm>
          <a:prstGeom prst="roundRect">
            <a:avLst>
              <a:gd name="adj" fmla="val 5556"/>
            </a:avLst>
          </a:prstGeom>
          <a:solidFill>
            <a:srgbClr val="2B549E"/>
          </a:solidFill>
          <a:ln/>
        </p:spPr>
      </p:sp>
      <p:sp>
        <p:nvSpPr>
          <p:cNvPr id="20" name="Text 17"/>
          <p:cNvSpPr/>
          <p:nvPr/>
        </p:nvSpPr>
        <p:spPr>
          <a:xfrm>
            <a:off x="6556248" y="4617720"/>
            <a:ext cx="4885639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Администрация школы оказывала активное содействие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«БиоЛаб» в работе: команда и исследования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051560"/>
            <a:ext cx="4892040" cy="1847088"/>
          </a:xfrm>
          <a:prstGeom prst="roundRect">
            <a:avLst>
              <a:gd name="adj" fmla="val 544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16128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1517904"/>
            <a:ext cx="4434840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517904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Наставник — Еременко А.М.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1956816"/>
            <a:ext cx="4434840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1956816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исследователей 10 класса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395728"/>
            <a:ext cx="4434840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2395728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ассистента 5 «Б» класса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" y="3063240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E11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30632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Преемственность поколений</a:t>
            </a:r>
            <a:endParaRPr lang="en-US" sz="1500" dirty="0"/>
          </a:p>
        </p:txBody>
      </p:sp>
      <p:pic>
        <p:nvPicPr>
          <p:cNvPr id="13" name="Image 0" descr="/tmp/claude-0/-home-user-SmartTVControl/c7267815-9774-5a8b-9a9f-04286a1d8dd3/scratchpad/project/out/prepared/build/s8_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3593592"/>
            <a:ext cx="3200400" cy="187217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9768" y="5520627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Рядом со старшеклассниками — ассистенты 5 «Б» класса</a:t>
            </a:r>
            <a:endParaRPr lang="en-US" sz="1200" dirty="0"/>
          </a:p>
        </p:txBody>
      </p:sp>
      <p:pic>
        <p:nvPicPr>
          <p:cNvPr id="15" name="Image 1" descr="/tmp/claude-0/-home-user-SmartTVControl/c7267815-9774-5a8b-9a9f-04286a1d8dd3/scratchpad/project/out/prepared/build/s8_te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051560"/>
            <a:ext cx="6165799" cy="28035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96128" y="3919080"/>
            <a:ext cx="6165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Регистрация биосигналов: график на экране в реальном времени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596128" y="4379976"/>
            <a:ext cx="2945740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C0">
                <a:alpha val="2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797296" y="4507992"/>
            <a:ext cx="25434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 сердца к цифре»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797296" y="5074920"/>
            <a:ext cx="2543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регистрация ЭКГ, расчёт частоты сердечных сокращений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816188" y="4379976"/>
            <a:ext cx="2945740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C0">
                <a:alpha val="2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017356" y="4507992"/>
            <a:ext cx="25434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5AD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«Адаптация сердца к нагрузкам»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17356" y="5074920"/>
            <a:ext cx="2543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покой → нагрузка → восстановление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29768" y="5916168"/>
            <a:ext cx="11332159" cy="512064"/>
          </a:xfrm>
          <a:prstGeom prst="roundRect">
            <a:avLst>
              <a:gd name="adj" fmla="val 19643"/>
            </a:avLst>
          </a:prstGeom>
          <a:solidFill>
            <a:srgbClr val="E11E4F"/>
          </a:solidFill>
          <a:ln/>
        </p:spPr>
      </p:sp>
      <p:sp>
        <p:nvSpPr>
          <p:cNvPr id="24" name="Text 20"/>
          <p:cNvSpPr/>
          <p:nvPr/>
        </p:nvSpPr>
        <p:spPr>
          <a:xfrm>
            <a:off x="429768" y="5916168"/>
            <a:ext cx="113321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Всероссийская НПК «Теория и практика» — диплом I степени у каждого участника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Перспективные направления научно-исследовательской деятельности «БиоЛаб»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463040"/>
            <a:ext cx="5122012" cy="4965192"/>
          </a:xfrm>
          <a:prstGeom prst="roundRect">
            <a:avLst>
              <a:gd name="adj" fmla="val 2026"/>
            </a:avLst>
          </a:prstGeom>
          <a:solidFill>
            <a:srgbClr val="F4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609344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25ADE4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6093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5–7 классы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029968"/>
            <a:ext cx="4573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Классическая биология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457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«Факторы успешной вегетативной репродукции лимонов сортов „Лунарио“ и „Павловский“»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3182112"/>
            <a:ext cx="45733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Методы: биологический эксперимент, фенологические наблюдения, морфометрия</a:t>
            </a:r>
            <a:endParaRPr lang="en-US" sz="1400" dirty="0"/>
          </a:p>
        </p:txBody>
      </p:sp>
      <p:pic>
        <p:nvPicPr>
          <p:cNvPr id="9" name="Image 0" descr="/tmp/claude-0/-home-user-SmartTVControl/c7267815-9774-5a8b-9a9f-04286a1d8dd3/scratchpad/project/out/prepared/build/s9_lem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386" y="3749040"/>
            <a:ext cx="3922776" cy="21207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5925312"/>
            <a:ext cx="45733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Лимон в комнатной культуре (иллюстрация). Фото: Milan Suvajac / Wikimedia Commons, CC BY-SA 4.0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9916" y="1463040"/>
            <a:ext cx="5122012" cy="4965192"/>
          </a:xfrm>
          <a:prstGeom prst="roundRect">
            <a:avLst>
              <a:gd name="adj" fmla="val 2026"/>
            </a:avLst>
          </a:prstGeom>
          <a:solidFill>
            <a:srgbClr val="F4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14236" y="1609344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11E4F"/>
          </a:solidFill>
          <a:ln/>
        </p:spPr>
      </p:sp>
      <p:sp>
        <p:nvSpPr>
          <p:cNvPr id="13" name="Text 10"/>
          <p:cNvSpPr/>
          <p:nvPr/>
        </p:nvSpPr>
        <p:spPr>
          <a:xfrm>
            <a:off x="6914236" y="16093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9–11 классы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14236" y="2029968"/>
            <a:ext cx="4573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Science и биомедицина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914236" y="2395728"/>
            <a:ext cx="457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 цифры к микромиру: нейросенсорное восприятие биологических данных»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14236" y="3182112"/>
            <a:ext cx="45733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Статистика: t-критерий Стьюдента, U-критерий Манна–Уитни</a:t>
            </a:r>
            <a:endParaRPr lang="en-US" sz="1400" dirty="0"/>
          </a:p>
        </p:txBody>
      </p:sp>
      <p:pic>
        <p:nvPicPr>
          <p:cNvPr id="17" name="Image 1" descr="/tmp/claude-0/-home-user-SmartTVControl/c7267815-9774-5a8b-9a9f-04286a1d8dd3/scratchpad/project/out/prepared/build/s9_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533" y="3749040"/>
            <a:ext cx="3922776" cy="21205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14236" y="5925312"/>
            <a:ext cx="45733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распределений: статистическая обработка результатов (схема)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95848" y="1737360"/>
            <a:ext cx="0" cy="1645920"/>
          </a:xfrm>
          <a:prstGeom prst="line">
            <a:avLst/>
          </a:prstGeom>
          <a:noFill/>
          <a:ln w="25400">
            <a:solidFill>
              <a:srgbClr val="DDE3E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95848" y="4983480"/>
            <a:ext cx="0" cy="1280160"/>
          </a:xfrm>
          <a:prstGeom prst="line">
            <a:avLst/>
          </a:prstGeom>
          <a:noFill/>
          <a:ln w="25400">
            <a:solidFill>
              <a:srgbClr val="DDE3E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684368" y="3493008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AD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84368" y="34930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AD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5428336" y="43891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5AD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преемственность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martTVControl/c7267815-9774-5a8b-9a9f-04286a1d8dd3/scratchpad/project/out/prepared/build/s10_bg.jp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2024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 — не финал, а </a:t>
            </a:r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11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стартовая точка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3017520" y="3456432"/>
            <a:ext cx="6153912" cy="0"/>
          </a:xfrm>
          <a:prstGeom prst="line">
            <a:avLst/>
          </a:prstGeom>
          <a:noFill/>
          <a:ln w="19050">
            <a:solidFill>
              <a:srgbClr val="DD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63928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кейсового задания «Большой Перемены» — к собственной цифровой лаборатории «БиоЛаб»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внимание!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852160" y="5687568"/>
            <a:ext cx="59097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А.М., учитель биологии МБОУ СОШ №12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9768" y="6108192"/>
            <a:ext cx="11332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Вышневолоцкий муниципальный округ, 2026 год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292608"/>
            <a:ext cx="113321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Резерв: материалы к вопросам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051560"/>
            <a:ext cx="4206240" cy="3291840"/>
          </a:xfrm>
          <a:prstGeom prst="roundRect">
            <a:avLst>
              <a:gd name="adj" fmla="val 305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1615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4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«БиоЛаб»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3694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Наставник: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Еременко А.М.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Исследователи, 10 класс: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Видонов Артём, Гужов Алексей, Елизарова Вероника, Иванова Диана, Малышева Анастасия, Мурашова Варвара, Рощин Алексей, Татушенко Егор, Тропников Иван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Ассистенты, 5 «Б» класс: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Виноградова Алиса, Радаева София</a:t>
            </a:r>
            <a:endParaRPr lang="en-US" sz="1300" dirty="0"/>
          </a:p>
        </p:txBody>
      </p:sp>
      <p:pic>
        <p:nvPicPr>
          <p:cNvPr id="6" name="Image 0" descr="/tmp/claude-0/-home-user-SmartTVControl/c7267815-9774-5a8b-9a9f-04286a1d8dd3/scratchpad/project/out/prepared/build/s11_equip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051560"/>
            <a:ext cx="6851599" cy="28048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10328" y="3920441"/>
            <a:ext cx="6851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Оборудование цифровой нейролаборатории, приобретённое на средства гранта</a:t>
            </a:r>
            <a:endParaRPr lang="en-US" sz="1200" dirty="0"/>
          </a:p>
        </p:txBody>
      </p:sp>
      <p:pic>
        <p:nvPicPr>
          <p:cNvPr id="8" name="Image 1" descr="/tmp/claude-0/-home-user-SmartTVControl/c7267815-9774-5a8b-9a9f-04286a1d8dd3/scratchpad/project/out/prepared/build/s11_gram20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4361688"/>
            <a:ext cx="999664" cy="1444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18894" y="5861304"/>
            <a:ext cx="11825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Благодарность</a:t>
            </a:r>
            <a:endParaRPr lang="en-US" sz="1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С.В. Кириенко, 2022 год</a:t>
            </a:r>
            <a:endParaRPr lang="en-US" sz="1000" dirty="0"/>
          </a:p>
        </p:txBody>
      </p:sp>
      <p:pic>
        <p:nvPicPr>
          <p:cNvPr id="10" name="Image 2" descr="/tmp/claude-0/-home-user-SmartTVControl/c7267815-9774-5a8b-9a9f-04286a1d8dd3/scratchpad/project/out/prepared/build/s11_gramota_t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723" y="4361688"/>
            <a:ext cx="1049820" cy="1444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6289" y="5861304"/>
            <a:ext cx="12326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Почётная грамота Минобразования Тверской области, 2022</a:t>
            </a:r>
            <a:endParaRPr lang="en-US" sz="1000" dirty="0"/>
          </a:p>
        </p:txBody>
      </p:sp>
      <p:pic>
        <p:nvPicPr>
          <p:cNvPr id="12" name="Image 3" descr="/tmp/claude-0/-home-user-SmartTVControl/c7267815-9774-5a8b-9a9f-04286a1d8dd3/scratchpad/project/out/prepared/build/s11_atlas2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275" y="4361688"/>
            <a:ext cx="2044460" cy="1444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43841" y="5861304"/>
            <a:ext cx="222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Диплом наставника «Атласа почвенных микроорганизмов», 2023</a:t>
            </a:r>
            <a:endParaRPr lang="en-US" sz="1000" dirty="0"/>
          </a:p>
        </p:txBody>
      </p:sp>
      <p:pic>
        <p:nvPicPr>
          <p:cNvPr id="14" name="Image 4" descr="/tmp/claude-0/-home-user-SmartTVControl/c7267815-9774-5a8b-9a9f-04286a1d8dd3/scratchpad/project/out/prepared/build/s11_atlas2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467" y="4361688"/>
            <a:ext cx="2044460" cy="14447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26033" y="5861304"/>
            <a:ext cx="222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A67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Диплом наставника «Атласа почвенных микроорганизмов»,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«Большой Перемены» к нейролаборатории</dc:title>
  <dc:subject>PptxGenJS Presentation</dc:subject>
  <dc:creator>Еременко А.М.</dc:creator>
  <cp:lastModifiedBy>Еременко А.М.</cp:lastModifiedBy>
  <cp:revision>1</cp:revision>
  <dcterms:created xsi:type="dcterms:W3CDTF">2026-08-19T19:00:57Z</dcterms:created>
  <dcterms:modified xsi:type="dcterms:W3CDTF">2026-08-19T19:00:57Z</dcterms:modified>
</cp:coreProperties>
</file>